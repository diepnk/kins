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9"/>
  </p:notesMasterIdLst>
  <p:sldIdLst>
    <p:sldId id="277" r:id="rId2"/>
    <p:sldId id="272" r:id="rId3"/>
    <p:sldId id="273" r:id="rId4"/>
    <p:sldId id="274" r:id="rId5"/>
    <p:sldId id="275" r:id="rId6"/>
    <p:sldId id="282" r:id="rId7"/>
    <p:sldId id="276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E79"/>
    <a:srgbClr val="FF0000"/>
    <a:srgbClr val="FFFFFF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67" autoAdjust="0"/>
    <p:restoredTop sz="94542" autoAdjust="0"/>
  </p:normalViewPr>
  <p:slideViewPr>
    <p:cSldViewPr snapToGrid="0">
      <p:cViewPr varScale="1">
        <p:scale>
          <a:sx n="86" d="100"/>
          <a:sy n="86" d="100"/>
        </p:scale>
        <p:origin x="63" y="1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84238-476F-4138-B007-52689CB40185}" type="datetimeFigureOut">
              <a:rPr kumimoji="1" lang="ja-JP" altLang="en-US" smtClean="0"/>
              <a:t>2017/10/3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BF7893-7B2F-42AD-A231-E0661A87C8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3709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0BF6-980A-4A5A-9875-4EB6ADF2502C}" type="datetime1">
              <a:rPr kumimoji="1" lang="ja-JP" altLang="en-US" smtClean="0"/>
              <a:t>2017/10/3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1747-AB2E-4E1F-9895-45BAB76B0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テキスト ボックス 6"/>
          <p:cNvSpPr txBox="1"/>
          <p:nvPr userDrawn="1"/>
        </p:nvSpPr>
        <p:spPr>
          <a:xfrm>
            <a:off x="10345928" y="140677"/>
            <a:ext cx="1679058" cy="253916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50" b="0" dirty="0" smtClean="0">
                <a:solidFill>
                  <a:srgbClr val="FF0000"/>
                </a:solidFill>
              </a:rPr>
              <a:t>Hitachi</a:t>
            </a:r>
            <a:r>
              <a:rPr kumimoji="1" lang="ja-JP" altLang="en-US" sz="1050" b="0" dirty="0" smtClean="0">
                <a:solidFill>
                  <a:srgbClr val="FF0000"/>
                </a:solidFill>
              </a:rPr>
              <a:t> </a:t>
            </a:r>
            <a:r>
              <a:rPr kumimoji="1" lang="en-US" altLang="ja-JP" sz="1050" b="0" dirty="0" smtClean="0">
                <a:solidFill>
                  <a:srgbClr val="FF0000"/>
                </a:solidFill>
              </a:rPr>
              <a:t>Confidential</a:t>
            </a:r>
            <a:endParaRPr kumimoji="1" lang="ja-JP" altLang="en-US" sz="105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0476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92100" y="196155"/>
            <a:ext cx="10515600" cy="396875"/>
          </a:xfrm>
        </p:spPr>
        <p:txBody>
          <a:bodyPr>
            <a:normAutofit/>
          </a:bodyPr>
          <a:lstStyle>
            <a:lvl1pPr>
              <a:defRPr sz="2000" b="1" u="sng">
                <a:latin typeface="+mn-lt"/>
              </a:defRPr>
            </a:lvl1pPr>
          </a:lstStyle>
          <a:p>
            <a:r>
              <a:rPr kumimoji="1" lang="ja-JP" altLang="en-US" dirty="0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11414057" y="6629400"/>
            <a:ext cx="736600" cy="200025"/>
          </a:xfrm>
        </p:spPr>
        <p:txBody>
          <a:bodyPr/>
          <a:lstStyle>
            <a:lvl1pPr>
              <a:defRPr sz="1000"/>
            </a:lvl1pPr>
          </a:lstStyle>
          <a:p>
            <a:fld id="{FEC61747-AB2E-4E1F-9895-45BAB76B066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テキスト ボックス 6"/>
          <p:cNvSpPr txBox="1"/>
          <p:nvPr userDrawn="1"/>
        </p:nvSpPr>
        <p:spPr>
          <a:xfrm>
            <a:off x="10345928" y="140677"/>
            <a:ext cx="1679058" cy="253916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50" b="0" dirty="0" smtClean="0">
                <a:solidFill>
                  <a:srgbClr val="FF0000"/>
                </a:solidFill>
              </a:rPr>
              <a:t>Hitachi</a:t>
            </a:r>
            <a:r>
              <a:rPr kumimoji="1" lang="ja-JP" altLang="en-US" sz="1050" b="0" dirty="0" smtClean="0">
                <a:solidFill>
                  <a:srgbClr val="FF0000"/>
                </a:solidFill>
              </a:rPr>
              <a:t> </a:t>
            </a:r>
            <a:r>
              <a:rPr kumimoji="1" lang="en-US" altLang="ja-JP" sz="1050" b="0" dirty="0" smtClean="0">
                <a:solidFill>
                  <a:srgbClr val="FF0000"/>
                </a:solidFill>
              </a:rPr>
              <a:t>Confidential</a:t>
            </a:r>
            <a:endParaRPr kumimoji="1" lang="ja-JP" altLang="en-US" sz="105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394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37D15-7457-45F7-8BD5-41E5ECF48A1B}" type="datetime1">
              <a:rPr kumimoji="1" lang="ja-JP" altLang="en-US" smtClean="0"/>
              <a:t>2017/10/3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1747-AB2E-4E1F-9895-45BAB76B0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ボックス 7"/>
          <p:cNvSpPr txBox="1"/>
          <p:nvPr userDrawn="1"/>
        </p:nvSpPr>
        <p:spPr>
          <a:xfrm>
            <a:off x="10345928" y="140677"/>
            <a:ext cx="1679058" cy="253916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50" b="0" dirty="0" smtClean="0">
                <a:solidFill>
                  <a:srgbClr val="FF0000"/>
                </a:solidFill>
              </a:rPr>
              <a:t>Hitachi</a:t>
            </a:r>
            <a:r>
              <a:rPr kumimoji="1" lang="ja-JP" altLang="en-US" sz="1050" b="0" dirty="0" smtClean="0">
                <a:solidFill>
                  <a:srgbClr val="FF0000"/>
                </a:solidFill>
              </a:rPr>
              <a:t> </a:t>
            </a:r>
            <a:r>
              <a:rPr kumimoji="1" lang="en-US" altLang="ja-JP" sz="1050" b="0" dirty="0" smtClean="0">
                <a:solidFill>
                  <a:srgbClr val="FF0000"/>
                </a:solidFill>
              </a:rPr>
              <a:t>Confidential</a:t>
            </a:r>
            <a:endParaRPr kumimoji="1" lang="ja-JP" altLang="en-US" sz="105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2671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A59CD-7BBC-4C47-96C4-C7A82CCC19ED}" type="datetime1">
              <a:rPr kumimoji="1" lang="ja-JP" altLang="en-US" smtClean="0"/>
              <a:t>2017/10/3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1747-AB2E-4E1F-9895-45BAB76B0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10345928" y="140677"/>
            <a:ext cx="1679058" cy="253916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50" b="0" dirty="0" smtClean="0">
                <a:solidFill>
                  <a:srgbClr val="FF0000"/>
                </a:solidFill>
              </a:rPr>
              <a:t>Hitachi</a:t>
            </a:r>
            <a:r>
              <a:rPr kumimoji="1" lang="ja-JP" altLang="en-US" sz="1050" b="0" dirty="0" smtClean="0">
                <a:solidFill>
                  <a:srgbClr val="FF0000"/>
                </a:solidFill>
              </a:rPr>
              <a:t> </a:t>
            </a:r>
            <a:r>
              <a:rPr kumimoji="1" lang="en-US" altLang="ja-JP" sz="1050" b="0" dirty="0" smtClean="0">
                <a:solidFill>
                  <a:srgbClr val="FF0000"/>
                </a:solidFill>
              </a:rPr>
              <a:t>Confidential</a:t>
            </a:r>
            <a:endParaRPr kumimoji="1" lang="ja-JP" altLang="en-US" sz="105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0219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ABE84-0C17-4833-B4A0-CA28B39BA934}" type="datetime1">
              <a:rPr kumimoji="1" lang="ja-JP" altLang="en-US" smtClean="0"/>
              <a:t>2017/10/3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1747-AB2E-4E1F-9895-45BAB76B0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0230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ACDE0-6405-4D1B-816E-BA2F6468AE25}" type="datetime1">
              <a:rPr kumimoji="1" lang="ja-JP" altLang="en-US" smtClean="0"/>
              <a:t>2017/10/3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1747-AB2E-4E1F-9895-45BAB76B0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8744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E7C4E-D3FA-4D9B-8A76-999EE0C6B7D3}" type="datetime1">
              <a:rPr kumimoji="1" lang="ja-JP" altLang="en-US" smtClean="0"/>
              <a:t>2017/10/3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1747-AB2E-4E1F-9895-45BAB76B0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0891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F1B9-F501-45BD-95EA-A11DFA1BEC1D}" type="datetime1">
              <a:rPr kumimoji="1" lang="ja-JP" altLang="en-US" smtClean="0"/>
              <a:t>2017/10/3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1747-AB2E-4E1F-9895-45BAB76B0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697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1580A-AC77-4A7E-A0B1-5C2EAB63748B}" type="datetime1">
              <a:rPr kumimoji="1" lang="ja-JP" altLang="en-US" smtClean="0"/>
              <a:t>2017/10/3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1747-AB2E-4E1F-9895-45BAB76B0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4662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F5952-A69E-40A5-AFEC-5BB25765E87A}" type="datetime1">
              <a:rPr kumimoji="1" lang="ja-JP" altLang="en-US" smtClean="0"/>
              <a:t>2017/10/3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1747-AB2E-4E1F-9895-45BAB76B0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4629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E2E7A-AC53-452D-81A8-C2B6FE7CCFA1}" type="datetime1">
              <a:rPr kumimoji="1" lang="ja-JP" altLang="en-US" smtClean="0"/>
              <a:t>2017/10/3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1747-AB2E-4E1F-9895-45BAB76B0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7843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0DDF6-F6EC-404B-84EE-55B9CC0F896B}" type="datetime1">
              <a:rPr kumimoji="1" lang="ja-JP" altLang="en-US" smtClean="0"/>
              <a:t>2017/10/3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61747-AB2E-4E1F-9895-45BAB76B06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7414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wmf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4" b="7488"/>
          <a:stretch/>
        </p:blipFill>
        <p:spPr>
          <a:xfrm>
            <a:off x="-1060" y="0"/>
            <a:ext cx="12193060" cy="6879772"/>
          </a:xfrm>
          <a:prstGeom prst="rect">
            <a:avLst/>
          </a:prstGeom>
        </p:spPr>
      </p:pic>
      <p:sp>
        <p:nvSpPr>
          <p:cNvPr id="2" name="正方形/長方形 1"/>
          <p:cNvSpPr/>
          <p:nvPr/>
        </p:nvSpPr>
        <p:spPr>
          <a:xfrm>
            <a:off x="1014594" y="3320534"/>
            <a:ext cx="1027729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4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Discussion </a:t>
            </a:r>
            <a:r>
              <a:rPr lang="ja-JP" altLang="en-US" sz="4400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</a:t>
            </a:r>
            <a:r>
              <a:rPr lang="en-US" altLang="ja-JP" sz="4400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</a:t>
            </a:r>
            <a:r>
              <a:rPr lang="ja-JP" altLang="en-US" sz="4400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per </a:t>
            </a:r>
            <a:r>
              <a:rPr lang="ja-JP" altLang="en-US" sz="4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for </a:t>
            </a:r>
            <a:r>
              <a:rPr lang="en-US" altLang="ja-JP" sz="4400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GC</a:t>
            </a:r>
            <a:r>
              <a:rPr lang="en-US" altLang="ja-JP" sz="4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</a:t>
            </a:r>
            <a:r>
              <a:rPr lang="ja-JP" altLang="en-US" sz="4400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altLang="ja-JP" sz="4400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Meeting</a:t>
            </a:r>
            <a:endParaRPr lang="ja-JP" altLang="en-US" sz="44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060450" y="5287115"/>
            <a:ext cx="16853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solidFill>
                  <a:schemeClr val="bg1"/>
                </a:solidFill>
                <a:effectLst>
                  <a:glow rad="635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</a:rPr>
              <a:t>03/Oct/2017  </a:t>
            </a:r>
          </a:p>
          <a:p>
            <a:endParaRPr kumimoji="1" lang="en-US" altLang="ja-JP" dirty="0">
              <a:solidFill>
                <a:schemeClr val="bg1"/>
              </a:solidFill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a:endParaRPr>
          </a:p>
          <a:p>
            <a:r>
              <a:rPr lang="en-US" altLang="ja-JP" sz="2400" dirty="0" smtClean="0">
                <a:solidFill>
                  <a:schemeClr val="bg1"/>
                </a:solidFill>
                <a:effectLst>
                  <a:glow rad="635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</a:rPr>
              <a:t>Hitachi, Ltd.</a:t>
            </a:r>
          </a:p>
        </p:txBody>
      </p:sp>
      <p:pic>
        <p:nvPicPr>
          <p:cNvPr id="5" name="図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878" y="334436"/>
            <a:ext cx="1621790" cy="461010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412" y="6243911"/>
            <a:ext cx="1612745" cy="37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12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1. About File Sharing </a:t>
            </a:r>
            <a:r>
              <a:rPr lang="en-US" altLang="ja-JP" dirty="0"/>
              <a:t>Method (You are staying in </a:t>
            </a:r>
            <a:r>
              <a:rPr lang="en-US" altLang="ja-JP" dirty="0" smtClean="0"/>
              <a:t>Japan/October)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1747-AB2E-4E1F-9895-45BAB76B0667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433701" y="1372557"/>
            <a:ext cx="5572636" cy="3472492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794520" y="1457435"/>
            <a:ext cx="2049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 smtClean="0"/>
              <a:t>HCGSJ@Oomori-OFFICE</a:t>
            </a:r>
            <a:endParaRPr kumimoji="1" lang="ja-JP" altLang="en-US" sz="1400" dirty="0"/>
          </a:p>
        </p:txBody>
      </p:sp>
      <p:sp>
        <p:nvSpPr>
          <p:cNvPr id="7" name="正方形/長方形 6"/>
          <p:cNvSpPr/>
          <p:nvPr/>
        </p:nvSpPr>
        <p:spPr>
          <a:xfrm>
            <a:off x="6209721" y="1386088"/>
            <a:ext cx="5572636" cy="3472492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585720" y="1457435"/>
            <a:ext cx="24913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 err="1" smtClean="0"/>
              <a:t>HITACHI</a:t>
            </a:r>
            <a:r>
              <a:rPr kumimoji="1" lang="en-US" altLang="ja-JP" sz="1400" dirty="0" err="1" smtClean="0"/>
              <a:t>@Marunouchi-OFFICE</a:t>
            </a:r>
            <a:endParaRPr kumimoji="1" lang="ja-JP" altLang="en-US" sz="1400" dirty="0"/>
          </a:p>
        </p:txBody>
      </p:sp>
      <p:sp>
        <p:nvSpPr>
          <p:cNvPr id="9" name="フローチャート: 磁気ディスク 8"/>
          <p:cNvSpPr/>
          <p:nvPr/>
        </p:nvSpPr>
        <p:spPr>
          <a:xfrm>
            <a:off x="2546552" y="2257154"/>
            <a:ext cx="1015377" cy="614386"/>
          </a:xfrm>
          <a:prstGeom prst="flowChartMagneticDisk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2084790" y="1866806"/>
            <a:ext cx="1898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Shared File server</a:t>
            </a:r>
            <a:endParaRPr kumimoji="1" lang="ja-JP" altLang="en-US" dirty="0"/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37" y="3627031"/>
            <a:ext cx="724011" cy="724011"/>
          </a:xfrm>
          <a:prstGeom prst="rect">
            <a:avLst/>
          </a:prstGeom>
        </p:spPr>
      </p:pic>
      <p:pic>
        <p:nvPicPr>
          <p:cNvPr id="13" name="図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970" y="3649216"/>
            <a:ext cx="679640" cy="679640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483" y="3618392"/>
            <a:ext cx="724011" cy="724011"/>
          </a:xfrm>
          <a:prstGeom prst="rect">
            <a:avLst/>
          </a:prstGeom>
        </p:spPr>
      </p:pic>
      <p:pic>
        <p:nvPicPr>
          <p:cNvPr id="15" name="図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420" y="3654124"/>
            <a:ext cx="679640" cy="679640"/>
          </a:xfrm>
          <a:prstGeom prst="rect">
            <a:avLst/>
          </a:prstGeom>
        </p:spPr>
      </p:pic>
      <p:sp>
        <p:nvSpPr>
          <p:cNvPr id="17" name="テキスト ボックス 16"/>
          <p:cNvSpPr txBox="1"/>
          <p:nvPr/>
        </p:nvSpPr>
        <p:spPr>
          <a:xfrm>
            <a:off x="1430608" y="4370889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Diep-san</a:t>
            </a:r>
            <a:endParaRPr kumimoji="1" lang="ja-JP" altLang="en-US" dirty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799302" y="4351042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Khang-san</a:t>
            </a:r>
            <a:endParaRPr kumimoji="1" lang="ja-JP" altLang="en-US" dirty="0"/>
          </a:p>
        </p:txBody>
      </p:sp>
      <p:sp>
        <p:nvSpPr>
          <p:cNvPr id="19" name="四角形吹き出し 18"/>
          <p:cNvSpPr/>
          <p:nvPr/>
        </p:nvSpPr>
        <p:spPr>
          <a:xfrm>
            <a:off x="3793948" y="2726484"/>
            <a:ext cx="1485900" cy="241300"/>
          </a:xfrm>
          <a:prstGeom prst="wedgeRectCallout">
            <a:avLst>
              <a:gd name="adj1" fmla="val -68621"/>
              <a:gd name="adj2" fmla="val -34559"/>
            </a:avLst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/>
              <a:t>Question1</a:t>
            </a:r>
            <a:endParaRPr kumimoji="1" lang="ja-JP" altLang="en-US" sz="1400" dirty="0"/>
          </a:p>
        </p:txBody>
      </p:sp>
      <p:sp>
        <p:nvSpPr>
          <p:cNvPr id="20" name="四角形吹き出し 19"/>
          <p:cNvSpPr/>
          <p:nvPr/>
        </p:nvSpPr>
        <p:spPr>
          <a:xfrm>
            <a:off x="4304976" y="3136693"/>
            <a:ext cx="1485900" cy="241300"/>
          </a:xfrm>
          <a:prstGeom prst="wedgeRectCallout">
            <a:avLst>
              <a:gd name="adj1" fmla="val -79733"/>
              <a:gd name="adj2" fmla="val 144388"/>
            </a:avLst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/>
              <a:t>Question2 </a:t>
            </a:r>
            <a:endParaRPr kumimoji="1" lang="ja-JP" altLang="en-US" sz="1400" dirty="0"/>
          </a:p>
        </p:txBody>
      </p:sp>
      <p:cxnSp>
        <p:nvCxnSpPr>
          <p:cNvPr id="22" name="直線矢印コネクタ 21"/>
          <p:cNvCxnSpPr/>
          <p:nvPr/>
        </p:nvCxnSpPr>
        <p:spPr>
          <a:xfrm flipV="1">
            <a:off x="2374103" y="3010948"/>
            <a:ext cx="384486" cy="5143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/>
          <p:nvPr/>
        </p:nvCxnSpPr>
        <p:spPr>
          <a:xfrm>
            <a:off x="3419668" y="2968058"/>
            <a:ext cx="395182" cy="5085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フローチャート: 磁気ディスク 26"/>
          <p:cNvSpPr/>
          <p:nvPr/>
        </p:nvSpPr>
        <p:spPr>
          <a:xfrm>
            <a:off x="7125261" y="2322160"/>
            <a:ext cx="1015377" cy="614386"/>
          </a:xfrm>
          <a:prstGeom prst="flowChartMagneticDisk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6760106" y="1876219"/>
            <a:ext cx="4471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Shared File server (Hitachi Internal Use Only)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/>
        </p:nvSpPr>
        <p:spPr>
          <a:xfrm>
            <a:off x="6560782" y="4009745"/>
            <a:ext cx="15926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400" b="1" dirty="0"/>
              <a:t>Access using </a:t>
            </a:r>
            <a:r>
              <a:rPr lang="ja-JP" altLang="en-US" sz="1400" b="1" u="sng" dirty="0"/>
              <a:t>LDAP</a:t>
            </a:r>
          </a:p>
        </p:txBody>
      </p:sp>
      <p:cxnSp>
        <p:nvCxnSpPr>
          <p:cNvPr id="34" name="直線矢印コネクタ 33"/>
          <p:cNvCxnSpPr/>
          <p:nvPr/>
        </p:nvCxnSpPr>
        <p:spPr>
          <a:xfrm flipV="1">
            <a:off x="2210799" y="2953036"/>
            <a:ext cx="384486" cy="51435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/>
          <p:cNvCxnSpPr/>
          <p:nvPr/>
        </p:nvCxnSpPr>
        <p:spPr>
          <a:xfrm>
            <a:off x="3226176" y="2968058"/>
            <a:ext cx="395182" cy="508592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35"/>
          <p:cNvSpPr/>
          <p:nvPr/>
        </p:nvSpPr>
        <p:spPr>
          <a:xfrm>
            <a:off x="713909" y="5111991"/>
            <a:ext cx="10800136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2400" b="1" dirty="0" smtClean="0"/>
              <a:t>Question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ja-JP" dirty="0"/>
              <a:t>Does HCGSJ have a </a:t>
            </a:r>
            <a:r>
              <a:rPr lang="en-US" altLang="ja-JP" dirty="0" smtClean="0"/>
              <a:t>shared file server? Or, Have you </a:t>
            </a:r>
            <a:r>
              <a:rPr lang="en-US" altLang="ja-JP" dirty="0"/>
              <a:t>a way to share files between </a:t>
            </a:r>
            <a:r>
              <a:rPr lang="en-US" altLang="ja-JP" dirty="0" smtClean="0"/>
              <a:t>Khang-san </a:t>
            </a:r>
            <a:r>
              <a:rPr lang="en-US" altLang="ja-JP" dirty="0"/>
              <a:t>and </a:t>
            </a:r>
            <a:r>
              <a:rPr lang="en-US" altLang="ja-JP" dirty="0" smtClean="0"/>
              <a:t>Diep-san?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ja-JP" altLang="en-US" dirty="0" smtClean="0"/>
              <a:t>Does Kan</a:t>
            </a:r>
            <a:r>
              <a:rPr lang="en-US" altLang="ja-JP" dirty="0" smtClean="0"/>
              <a:t>g-san</a:t>
            </a:r>
            <a:r>
              <a:rPr lang="ja-JP" altLang="en-US" dirty="0" smtClean="0"/>
              <a:t> </a:t>
            </a:r>
            <a:r>
              <a:rPr lang="ja-JP" altLang="en-US" dirty="0"/>
              <a:t>have LDAP of Hitachi Group</a:t>
            </a:r>
            <a:r>
              <a:rPr lang="ja-JP" altLang="en-US" dirty="0" smtClean="0"/>
              <a:t>?</a:t>
            </a:r>
            <a:r>
              <a:rPr lang="en-US" altLang="ja-JP" dirty="0"/>
              <a:t>(Please put </a:t>
            </a:r>
            <a:r>
              <a:rPr lang="en-US" altLang="ja-JP" dirty="0" smtClean="0"/>
              <a:t>deliverables </a:t>
            </a:r>
            <a:r>
              <a:rPr lang="en-US" altLang="ja-JP" dirty="0"/>
              <a:t>on </a:t>
            </a:r>
            <a:r>
              <a:rPr lang="en-US" altLang="ja-JP" dirty="0" err="1"/>
              <a:t>hitachi's</a:t>
            </a:r>
            <a:r>
              <a:rPr lang="en-US" altLang="ja-JP" dirty="0"/>
              <a:t> file sever</a:t>
            </a:r>
            <a:r>
              <a:rPr lang="en-US" altLang="ja-JP" dirty="0" smtClean="0"/>
              <a:t>.)</a:t>
            </a:r>
            <a:endParaRPr lang="ja-JP" altLang="en-US" dirty="0"/>
          </a:p>
        </p:txBody>
      </p:sp>
      <p:cxnSp>
        <p:nvCxnSpPr>
          <p:cNvPr id="37" name="直線矢印コネクタ 36"/>
          <p:cNvCxnSpPr/>
          <p:nvPr/>
        </p:nvCxnSpPr>
        <p:spPr>
          <a:xfrm>
            <a:off x="2683822" y="3896023"/>
            <a:ext cx="618009" cy="6844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/>
          <p:cNvCxnSpPr/>
          <p:nvPr/>
        </p:nvCxnSpPr>
        <p:spPr>
          <a:xfrm>
            <a:off x="2683822" y="4069760"/>
            <a:ext cx="618009" cy="684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四角形吹き出し 40"/>
          <p:cNvSpPr/>
          <p:nvPr/>
        </p:nvSpPr>
        <p:spPr>
          <a:xfrm>
            <a:off x="2589520" y="4734422"/>
            <a:ext cx="1485900" cy="241300"/>
          </a:xfrm>
          <a:prstGeom prst="wedgeRectCallout">
            <a:avLst>
              <a:gd name="adj1" fmla="val -22894"/>
              <a:gd name="adj2" fmla="val -310875"/>
            </a:avLst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/>
              <a:t>Question1</a:t>
            </a:r>
            <a:endParaRPr kumimoji="1" lang="ja-JP" altLang="en-US" sz="1400" dirty="0"/>
          </a:p>
        </p:txBody>
      </p:sp>
      <p:pic>
        <p:nvPicPr>
          <p:cNvPr id="42" name="図 4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933" y="2940863"/>
            <a:ext cx="724011" cy="724011"/>
          </a:xfrm>
          <a:prstGeom prst="rect">
            <a:avLst/>
          </a:prstGeom>
        </p:spPr>
      </p:pic>
      <p:pic>
        <p:nvPicPr>
          <p:cNvPr id="43" name="図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434" y="2976586"/>
            <a:ext cx="679640" cy="679640"/>
          </a:xfrm>
          <a:prstGeom prst="rect">
            <a:avLst/>
          </a:prstGeom>
        </p:spPr>
      </p:pic>
      <p:cxnSp>
        <p:nvCxnSpPr>
          <p:cNvPr id="45" name="直線矢印コネクタ 44"/>
          <p:cNvCxnSpPr/>
          <p:nvPr/>
        </p:nvCxnSpPr>
        <p:spPr>
          <a:xfrm>
            <a:off x="8287907" y="2741809"/>
            <a:ext cx="768271" cy="3565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/>
          <p:cNvCxnSpPr/>
          <p:nvPr/>
        </p:nvCxnSpPr>
        <p:spPr>
          <a:xfrm>
            <a:off x="8250592" y="2953036"/>
            <a:ext cx="673213" cy="313049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/>
          <p:cNvSpPr txBox="1"/>
          <p:nvPr/>
        </p:nvSpPr>
        <p:spPr>
          <a:xfrm>
            <a:off x="9002171" y="3689104"/>
            <a:ext cx="1821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Kondo &amp; </a:t>
            </a:r>
            <a:r>
              <a:rPr lang="en-US" altLang="ja-JP" dirty="0" err="1" smtClean="0"/>
              <a:t>Kamata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/>
        </p:nvSpPr>
        <p:spPr>
          <a:xfrm>
            <a:off x="493906" y="807216"/>
            <a:ext cx="64552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dirty="0"/>
              <a:t>We have any question about </a:t>
            </a:r>
            <a:r>
              <a:rPr lang="ja-JP" altLang="en-US" dirty="0" smtClean="0"/>
              <a:t>file</a:t>
            </a:r>
            <a:r>
              <a:rPr lang="en-US" altLang="ja-JP" dirty="0" smtClean="0"/>
              <a:t>(=Development Output)</a:t>
            </a:r>
            <a:r>
              <a:rPr lang="ja-JP" altLang="en-US" dirty="0" smtClean="0"/>
              <a:t> </a:t>
            </a:r>
            <a:r>
              <a:rPr lang="ja-JP" altLang="en-US" dirty="0"/>
              <a:t>sharing.</a:t>
            </a:r>
          </a:p>
        </p:txBody>
      </p:sp>
      <p:cxnSp>
        <p:nvCxnSpPr>
          <p:cNvPr id="21" name="カギ線コネクタ 20"/>
          <p:cNvCxnSpPr/>
          <p:nvPr/>
        </p:nvCxnSpPr>
        <p:spPr>
          <a:xfrm flipV="1">
            <a:off x="4869443" y="3013155"/>
            <a:ext cx="2781975" cy="963071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メモ 4"/>
          <p:cNvSpPr/>
          <p:nvPr/>
        </p:nvSpPr>
        <p:spPr>
          <a:xfrm>
            <a:off x="7082833" y="3302868"/>
            <a:ext cx="1014625" cy="488704"/>
          </a:xfrm>
          <a:prstGeom prst="foldedCorner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 smtClean="0">
                <a:solidFill>
                  <a:schemeClr val="tx1"/>
                </a:solidFill>
              </a:rPr>
              <a:t>Deliverables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89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2. About Work estimate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1747-AB2E-4E1F-9895-45BAB76B0667}" type="slidenum">
              <a:rPr lang="ja-JP" altLang="en-US" smtClean="0"/>
              <a:pPr/>
              <a:t>2</a:t>
            </a:fld>
            <a:endParaRPr lang="ja-JP" altLang="en-US"/>
          </a:p>
        </p:txBody>
      </p:sp>
      <p:graphicFrame>
        <p:nvGraphicFramePr>
          <p:cNvPr id="4" name="表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725986"/>
              </p:ext>
            </p:extLst>
          </p:nvPr>
        </p:nvGraphicFramePr>
        <p:xfrm>
          <a:off x="539750" y="1237952"/>
          <a:ext cx="11144250" cy="368964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28850">
                  <a:extLst>
                    <a:ext uri="{9D8B030D-6E8A-4147-A177-3AD203B41FA5}">
                      <a16:colId xmlns:a16="http://schemas.microsoft.com/office/drawing/2014/main" val="1362423623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3526753808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3502958287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565566447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3123364004"/>
                    </a:ext>
                  </a:extLst>
                </a:gridCol>
              </a:tblGrid>
              <a:tr h="710269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Item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Oct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Nov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Dec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SUM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990743"/>
                  </a:ext>
                </a:extLst>
              </a:tr>
              <a:tr h="993353">
                <a:tc>
                  <a:txBody>
                    <a:bodyPr/>
                    <a:lstStyle/>
                    <a:p>
                      <a:r>
                        <a:rPr kumimoji="1" lang="en-US" altLang="ja-JP" sz="1600" dirty="0" smtClean="0"/>
                        <a:t>Simulator</a:t>
                      </a:r>
                    </a:p>
                    <a:p>
                      <a:r>
                        <a:rPr kumimoji="1" lang="en-US" altLang="ja-JP" sz="1600" dirty="0" smtClean="0"/>
                        <a:t>Development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smtClean="0"/>
                        <a:t>2MM</a:t>
                      </a:r>
                    </a:p>
                    <a:p>
                      <a:r>
                        <a:rPr kumimoji="1" lang="en-US" altLang="ja-JP" sz="1600" dirty="0" smtClean="0"/>
                        <a:t>(\700,000</a:t>
                      </a:r>
                      <a:r>
                        <a:rPr kumimoji="1" lang="en-US" altLang="ja-JP" sz="1600" baseline="0" dirty="0" smtClean="0"/>
                        <a:t> *2)</a:t>
                      </a:r>
                    </a:p>
                    <a:p>
                      <a:r>
                        <a:rPr kumimoji="1" lang="en-US" altLang="ja-JP" sz="1600" baseline="0" dirty="0" smtClean="0"/>
                        <a:t>In Japan</a:t>
                      </a:r>
                      <a:endParaRPr kumimoji="1" lang="ja-JP" alt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smtClean="0"/>
                        <a:t>2MM</a:t>
                      </a:r>
                    </a:p>
                    <a:p>
                      <a:r>
                        <a:rPr kumimoji="1" lang="en-US" altLang="ja-JP" sz="1600" dirty="0" smtClean="0"/>
                        <a:t>(\320,000*2)</a:t>
                      </a:r>
                    </a:p>
                    <a:p>
                      <a:r>
                        <a:rPr kumimoji="1" lang="en-US" altLang="ja-JP" sz="1600" dirty="0" smtClean="0"/>
                        <a:t>In</a:t>
                      </a:r>
                      <a:r>
                        <a:rPr kumimoji="1" lang="en-US" altLang="ja-JP" sz="1600" baseline="0" dirty="0" smtClean="0"/>
                        <a:t> Vietnam</a:t>
                      </a:r>
                      <a:endParaRPr kumimoji="1" lang="en-US" altLang="ja-JP" sz="1600" b="1" baseline="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smtClean="0"/>
                        <a:t>2MM</a:t>
                      </a:r>
                    </a:p>
                    <a:p>
                      <a:r>
                        <a:rPr kumimoji="1" lang="en-US" altLang="ja-JP" sz="1600" dirty="0" smtClean="0"/>
                        <a:t>(\320,000*2)</a:t>
                      </a:r>
                    </a:p>
                    <a:p>
                      <a:r>
                        <a:rPr kumimoji="1" lang="en-US" altLang="ja-JP" sz="1600" dirty="0" smtClean="0"/>
                        <a:t>In</a:t>
                      </a:r>
                      <a:r>
                        <a:rPr kumimoji="1" lang="en-US" altLang="ja-JP" sz="1600" baseline="0" dirty="0" smtClean="0"/>
                        <a:t> Vietnam</a:t>
                      </a:r>
                      <a:endParaRPr kumimoji="1" lang="en-US" altLang="ja-JP" sz="1600" b="1" baseline="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600" b="1" dirty="0" smtClean="0"/>
                        <a:t>6MM</a:t>
                      </a:r>
                    </a:p>
                    <a:p>
                      <a:pPr algn="r"/>
                      <a:r>
                        <a:rPr kumimoji="1" lang="en-US" altLang="ja-JP" sz="1600" b="1" dirty="0" smtClean="0"/>
                        <a:t>\2,680,000</a:t>
                      </a:r>
                      <a:endParaRPr kumimoji="1" lang="ja-JP" altLang="en-US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8712204"/>
                  </a:ext>
                </a:extLst>
              </a:tr>
              <a:tr h="993013">
                <a:tc>
                  <a:txBody>
                    <a:bodyPr/>
                    <a:lstStyle/>
                    <a:p>
                      <a:r>
                        <a:rPr kumimoji="1" lang="en-US" altLang="ja-JP" sz="1600" dirty="0" smtClean="0"/>
                        <a:t>Survey in Vietnam</a:t>
                      </a:r>
                      <a:endParaRPr kumimoji="1" lang="ja-JP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 smtClean="0"/>
                        <a:t>1MM</a:t>
                      </a:r>
                    </a:p>
                    <a:p>
                      <a:pPr algn="ctr"/>
                      <a:r>
                        <a:rPr kumimoji="1" lang="en-US" altLang="ja-JP" sz="1600" dirty="0" smtClean="0"/>
                        <a:t>(\320,000)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 smtClean="0"/>
                        <a:t>In</a:t>
                      </a:r>
                      <a:r>
                        <a:rPr kumimoji="1" lang="en-US" altLang="ja-JP" sz="1600" baseline="0" dirty="0" smtClean="0"/>
                        <a:t> Vietnam</a:t>
                      </a:r>
                      <a:endParaRPr kumimoji="1" lang="en-US" altLang="ja-JP" sz="1600" b="1" baseline="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600" b="1" dirty="0" smtClean="0"/>
                        <a:t>1MM</a:t>
                      </a:r>
                    </a:p>
                    <a:p>
                      <a:pPr algn="r"/>
                      <a:r>
                        <a:rPr kumimoji="1" lang="en-US" altLang="ja-JP" sz="1600" b="1" dirty="0" smtClean="0"/>
                        <a:t>\320,000</a:t>
                      </a:r>
                      <a:endParaRPr kumimoji="1" lang="ja-JP" altLang="en-US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5178558"/>
                  </a:ext>
                </a:extLst>
              </a:tr>
              <a:tr h="993013">
                <a:tc gridSpan="4">
                  <a:txBody>
                    <a:bodyPr/>
                    <a:lstStyle/>
                    <a:p>
                      <a:pPr algn="r"/>
                      <a:r>
                        <a:rPr kumimoji="1" lang="en-US" altLang="ja-JP" sz="2000" dirty="0" smtClean="0"/>
                        <a:t>TOTAL</a:t>
                      </a:r>
                      <a:endParaRPr kumimoji="1" lang="ja-JP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600" b="1" baseline="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 b="1" dirty="0" smtClean="0"/>
                        <a:t>\3,000,000</a:t>
                      </a:r>
                      <a:endParaRPr kumimoji="1" lang="ja-JP" alt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785971"/>
                  </a:ext>
                </a:extLst>
              </a:tr>
            </a:tbl>
          </a:graphicData>
        </a:graphic>
      </p:graphicFrame>
      <p:sp>
        <p:nvSpPr>
          <p:cNvPr id="5" name="角丸四角形吹き出し 4"/>
          <p:cNvSpPr/>
          <p:nvPr/>
        </p:nvSpPr>
        <p:spPr>
          <a:xfrm>
            <a:off x="971550" y="4044950"/>
            <a:ext cx="4832350" cy="1413272"/>
          </a:xfrm>
          <a:prstGeom prst="wedgeRoundRectCallout">
            <a:avLst>
              <a:gd name="adj1" fmla="val 45927"/>
              <a:gd name="adj2" fmla="val -70370"/>
              <a:gd name="adj3" fmla="val 16667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Regarding market survey, we received a proposal at </a:t>
            </a:r>
            <a:r>
              <a:rPr lang="en-US" altLang="ja-JP" b="1" dirty="0" smtClean="0"/>
              <a:t>11.5</a:t>
            </a:r>
            <a:r>
              <a:rPr lang="en-US" altLang="ja-JP" dirty="0" smtClean="0"/>
              <a:t>MM, </a:t>
            </a:r>
            <a:r>
              <a:rPr lang="en-US" altLang="ja-JP" dirty="0"/>
              <a:t>but please accept with total of </a:t>
            </a:r>
            <a:r>
              <a:rPr lang="en-US" altLang="ja-JP" b="1" u="sng" dirty="0" smtClean="0"/>
              <a:t>5MM,</a:t>
            </a:r>
            <a:r>
              <a:rPr lang="en-US" altLang="ja-JP" dirty="0" smtClean="0"/>
              <a:t> </a:t>
            </a:r>
            <a:r>
              <a:rPr lang="en-US" altLang="ja-JP" dirty="0"/>
              <a:t>together with orders for September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/>
        </p:nvSpPr>
        <p:spPr>
          <a:xfrm>
            <a:off x="539750" y="730825"/>
            <a:ext cx="49874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dirty="0" smtClean="0"/>
              <a:t>For </a:t>
            </a:r>
            <a:r>
              <a:rPr lang="ja-JP" altLang="en-US" dirty="0"/>
              <a:t>after October, please let me order as </a:t>
            </a:r>
            <a:r>
              <a:rPr lang="ja-JP" altLang="en-US" dirty="0" smtClean="0"/>
              <a:t>follows</a:t>
            </a:r>
            <a:r>
              <a:rPr lang="en-US" altLang="ja-JP" dirty="0" smtClean="0"/>
              <a:t>..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3920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3. Working process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1747-AB2E-4E1F-9895-45BAB76B0667}" type="slidenum">
              <a:rPr lang="ja-JP" altLang="en-US" smtClean="0"/>
              <a:pPr/>
              <a:t>3</a:t>
            </a:fld>
            <a:endParaRPr lang="ja-JP" altLang="en-US"/>
          </a:p>
        </p:txBody>
      </p:sp>
      <p:graphicFrame>
        <p:nvGraphicFramePr>
          <p:cNvPr id="6" name="表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755994"/>
              </p:ext>
            </p:extLst>
          </p:nvPr>
        </p:nvGraphicFramePr>
        <p:xfrm>
          <a:off x="1684886" y="1466796"/>
          <a:ext cx="9067800" cy="445626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57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9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99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11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402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 smtClean="0"/>
                        <a:t>Key Activities</a:t>
                      </a:r>
                      <a:endParaRPr kumimoji="1" lang="ja-JP" altLang="en-US" sz="1800" dirty="0"/>
                    </a:p>
                  </a:txBody>
                  <a:tcPr marL="91433" marR="91433" marT="45717" marB="45717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 dirty="0"/>
                    </a:p>
                  </a:txBody>
                  <a:tcPr marL="91433" marR="91433" marT="45717" marB="45717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 smtClean="0"/>
                        <a:t>2017</a:t>
                      </a:r>
                      <a:endParaRPr kumimoji="1" lang="ja-JP" altLang="en-US" sz="1800" dirty="0"/>
                    </a:p>
                  </a:txBody>
                  <a:tcPr marL="91433" marR="91433" marT="45717" marB="45717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 dirty="0"/>
                    </a:p>
                  </a:txBody>
                  <a:tcPr marL="91433" marR="91433" marT="45717" marB="4571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021"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 smtClean="0"/>
                        <a:t>Who</a:t>
                      </a:r>
                      <a:endParaRPr kumimoji="1" lang="ja-JP" altLang="en-US" sz="1800" dirty="0"/>
                    </a:p>
                  </a:txBody>
                  <a:tcPr marL="91433" marR="91433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 smtClean="0"/>
                        <a:t>Sep</a:t>
                      </a:r>
                      <a:endParaRPr kumimoji="1" lang="ja-JP" altLang="en-US" sz="1800" dirty="0"/>
                    </a:p>
                  </a:txBody>
                  <a:tcPr marL="91433" marR="91433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 smtClean="0"/>
                        <a:t>Oct</a:t>
                      </a:r>
                      <a:endParaRPr kumimoji="1" lang="ja-JP" altLang="en-US" sz="1800" dirty="0"/>
                    </a:p>
                  </a:txBody>
                  <a:tcPr marL="91433" marR="91433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 smtClean="0"/>
                        <a:t>Nov</a:t>
                      </a:r>
                      <a:endParaRPr kumimoji="1" lang="ja-JP" altLang="en-US" sz="1800" dirty="0"/>
                    </a:p>
                  </a:txBody>
                  <a:tcPr marL="91433" marR="91433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 smtClean="0"/>
                        <a:t>Dec</a:t>
                      </a:r>
                      <a:endParaRPr kumimoji="1" lang="ja-JP" altLang="en-US" sz="1800" dirty="0"/>
                    </a:p>
                  </a:txBody>
                  <a:tcPr marL="91433" marR="91433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 smtClean="0"/>
                        <a:t>Comments</a:t>
                      </a:r>
                      <a:endParaRPr kumimoji="1" lang="ja-JP" altLang="en-US" sz="1800" dirty="0"/>
                    </a:p>
                  </a:txBody>
                  <a:tcPr marL="91433" marR="91433" marT="45717" marB="4571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021">
                <a:tc>
                  <a:txBody>
                    <a:bodyPr/>
                    <a:lstStyle/>
                    <a:p>
                      <a:r>
                        <a:rPr kumimoji="1" lang="en-US" altLang="ja-JP" sz="1800" dirty="0" smtClean="0"/>
                        <a:t>Learn &amp;Training R platform</a:t>
                      </a:r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 smtClean="0"/>
                        <a:t>G</a:t>
                      </a:r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021">
                <a:tc>
                  <a:txBody>
                    <a:bodyPr/>
                    <a:lstStyle/>
                    <a:p>
                      <a:r>
                        <a:rPr kumimoji="1" lang="en-US" altLang="ja-JP" sz="1800" dirty="0" smtClean="0"/>
                        <a:t>Work package</a:t>
                      </a:r>
                      <a:r>
                        <a:rPr kumimoji="1" lang="en-US" altLang="ja-JP" sz="1800" baseline="0" dirty="0" smtClean="0"/>
                        <a:t> agreed</a:t>
                      </a:r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 smtClean="0"/>
                        <a:t>H, G</a:t>
                      </a:r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021">
                <a:tc>
                  <a:txBody>
                    <a:bodyPr/>
                    <a:lstStyle/>
                    <a:p>
                      <a:r>
                        <a:rPr kumimoji="1" lang="en-US" altLang="ja-JP" sz="1800" dirty="0" smtClean="0"/>
                        <a:t>Development environment set-up</a:t>
                      </a:r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 smtClean="0"/>
                        <a:t>G</a:t>
                      </a:r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021">
                <a:tc>
                  <a:txBody>
                    <a:bodyPr/>
                    <a:lstStyle/>
                    <a:p>
                      <a:r>
                        <a:rPr kumimoji="1" lang="en-US" altLang="ja-JP" sz="1800" dirty="0" smtClean="0"/>
                        <a:t>Review of functional and GUI </a:t>
                      </a:r>
                      <a:r>
                        <a:rPr kumimoji="1" lang="en-US" altLang="ja-JP" sz="1800" baseline="0" dirty="0" smtClean="0"/>
                        <a:t>requirement</a:t>
                      </a:r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 smtClean="0"/>
                        <a:t>H, G</a:t>
                      </a:r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0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 smtClean="0"/>
                        <a:t>Review of Specification and GUI design</a:t>
                      </a:r>
                      <a:endParaRPr kumimoji="1" lang="ja-JP" altLang="en-US" sz="1800" dirty="0" smtClean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 smtClean="0"/>
                        <a:t>H, G</a:t>
                      </a:r>
                      <a:endParaRPr kumimoji="1" lang="ja-JP" altLang="en-US" sz="1800" dirty="0" smtClean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0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 smtClean="0"/>
                        <a:t>Implementation</a:t>
                      </a:r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 smtClean="0"/>
                        <a:t>G</a:t>
                      </a:r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4021">
                <a:tc>
                  <a:txBody>
                    <a:bodyPr/>
                    <a:lstStyle/>
                    <a:p>
                      <a:r>
                        <a:rPr kumimoji="1" lang="en-US" altLang="ja-JP" sz="1800" dirty="0" smtClean="0"/>
                        <a:t>Review and test</a:t>
                      </a:r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 smtClean="0"/>
                        <a:t>H, G</a:t>
                      </a:r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4021">
                <a:tc>
                  <a:txBody>
                    <a:bodyPr/>
                    <a:lstStyle/>
                    <a:p>
                      <a:r>
                        <a:rPr kumimoji="1" lang="en-US" altLang="ja-JP" sz="1800" dirty="0" smtClean="0"/>
                        <a:t>Final review, Closing</a:t>
                      </a:r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 smtClean="0"/>
                        <a:t>H, G</a:t>
                      </a:r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91433" marR="91433" marT="45717" marB="45717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ホームベース 6"/>
          <p:cNvSpPr/>
          <p:nvPr/>
        </p:nvSpPr>
        <p:spPr>
          <a:xfrm>
            <a:off x="6707736" y="2373258"/>
            <a:ext cx="576262" cy="28733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8" name="乗算記号 5"/>
          <p:cNvSpPr/>
          <p:nvPr/>
        </p:nvSpPr>
        <p:spPr>
          <a:xfrm>
            <a:off x="7250661" y="2762196"/>
            <a:ext cx="360362" cy="360362"/>
          </a:xfrm>
          <a:prstGeom prst="mathMultiply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9" name="ホームベース 8"/>
          <p:cNvSpPr/>
          <p:nvPr/>
        </p:nvSpPr>
        <p:spPr>
          <a:xfrm>
            <a:off x="7418936" y="3236858"/>
            <a:ext cx="107950" cy="28892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10" name="ホームベース 9"/>
          <p:cNvSpPr/>
          <p:nvPr/>
        </p:nvSpPr>
        <p:spPr>
          <a:xfrm>
            <a:off x="7382423" y="3657546"/>
            <a:ext cx="1944688" cy="287337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11" name="ホームベース 10"/>
          <p:cNvSpPr/>
          <p:nvPr/>
        </p:nvSpPr>
        <p:spPr>
          <a:xfrm>
            <a:off x="7382423" y="4089346"/>
            <a:ext cx="1944688" cy="287337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12" name="ホームベース 11"/>
          <p:cNvSpPr/>
          <p:nvPr/>
        </p:nvSpPr>
        <p:spPr>
          <a:xfrm>
            <a:off x="7382423" y="4490983"/>
            <a:ext cx="1944688" cy="28892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13" name="ホームベース 12"/>
          <p:cNvSpPr/>
          <p:nvPr/>
        </p:nvSpPr>
        <p:spPr>
          <a:xfrm>
            <a:off x="7382423" y="4922783"/>
            <a:ext cx="1944688" cy="28892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14" name="環状矢印 13"/>
          <p:cNvSpPr/>
          <p:nvPr/>
        </p:nvSpPr>
        <p:spPr>
          <a:xfrm>
            <a:off x="7699923" y="3698821"/>
            <a:ext cx="1368425" cy="1411287"/>
          </a:xfrm>
          <a:prstGeom prst="circularArrow">
            <a:avLst>
              <a:gd name="adj1" fmla="val 25000"/>
              <a:gd name="adj2" fmla="val 1142319"/>
              <a:gd name="adj3" fmla="val 20646712"/>
              <a:gd name="adj4" fmla="val 1184293"/>
              <a:gd name="adj5" fmla="val 12500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dirty="0">
                <a:solidFill>
                  <a:schemeClr val="tx1"/>
                </a:solidFill>
              </a:rPr>
              <a:t>Agile</a:t>
            </a:r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15" name="乗算記号 17"/>
          <p:cNvSpPr/>
          <p:nvPr/>
        </p:nvSpPr>
        <p:spPr>
          <a:xfrm>
            <a:off x="9227098" y="5295846"/>
            <a:ext cx="360363" cy="358775"/>
          </a:xfrm>
          <a:prstGeom prst="mathMultiply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4156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二等辺三角形 4"/>
          <p:cNvSpPr/>
          <p:nvPr/>
        </p:nvSpPr>
        <p:spPr>
          <a:xfrm>
            <a:off x="5756025" y="5214759"/>
            <a:ext cx="1892300" cy="1187450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4. UI sample and request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1747-AB2E-4E1F-9895-45BAB76B0667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1889150" y="895350"/>
            <a:ext cx="9709150" cy="50673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L 字 5"/>
          <p:cNvSpPr/>
          <p:nvPr/>
        </p:nvSpPr>
        <p:spPr>
          <a:xfrm>
            <a:off x="2124100" y="1705918"/>
            <a:ext cx="9239250" cy="4108450"/>
          </a:xfrm>
          <a:prstGeom prst="corner">
            <a:avLst>
              <a:gd name="adj1" fmla="val 89876"/>
              <a:gd name="adj2" fmla="val 4891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/>
        </p:nvSpPr>
        <p:spPr>
          <a:xfrm>
            <a:off x="4359300" y="1708150"/>
            <a:ext cx="1435100" cy="406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5991250" y="1708150"/>
            <a:ext cx="1435100" cy="406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7623200" y="1708150"/>
            <a:ext cx="1435100" cy="406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9255150" y="1708150"/>
            <a:ext cx="1435100" cy="406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2259868" y="1772850"/>
            <a:ext cx="17844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200" b="1" dirty="0"/>
              <a:t>Medical cost comparison</a:t>
            </a:r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868" y="1028881"/>
            <a:ext cx="652636" cy="473075"/>
          </a:xfrm>
          <a:prstGeom prst="rect">
            <a:avLst/>
          </a:prstGeom>
        </p:spPr>
      </p:pic>
      <p:sp>
        <p:nvSpPr>
          <p:cNvPr id="13" name="テキスト ボックス 12"/>
          <p:cNvSpPr txBox="1"/>
          <p:nvPr/>
        </p:nvSpPr>
        <p:spPr>
          <a:xfrm>
            <a:off x="2139477" y="1065862"/>
            <a:ext cx="2775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 smtClean="0"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solidFill>
                  <a:srgbClr val="002060"/>
                </a:solidFill>
                <a:effectLst/>
              </a:rPr>
              <a:t>Insurance Risk</a:t>
            </a:r>
            <a:r>
              <a:rPr lang="ja-JP" altLang="en-US" sz="2000" dirty="0" smtClean="0"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solidFill>
                  <a:srgbClr val="002060"/>
                </a:solidFill>
                <a:effectLst/>
              </a:rPr>
              <a:t> </a:t>
            </a:r>
            <a:r>
              <a:rPr lang="en-US" altLang="ja-JP" sz="2000" dirty="0" smtClean="0"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solidFill>
                  <a:srgbClr val="002060"/>
                </a:solidFill>
                <a:effectLst/>
              </a:rPr>
              <a:t>Simulator</a:t>
            </a:r>
            <a:endParaRPr kumimoji="1" lang="en-US" altLang="ja-JP" sz="2000" dirty="0" smtClean="0"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  <a:solidFill>
                <a:srgbClr val="002060"/>
              </a:solidFill>
              <a:effectLst/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4578024" y="1689100"/>
            <a:ext cx="10310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ja-JP" altLang="en-US" sz="1200" b="1" dirty="0"/>
              <a:t>Medical cost </a:t>
            </a:r>
            <a:endParaRPr lang="en-US" altLang="ja-JP" sz="1200" b="1" dirty="0" smtClean="0"/>
          </a:p>
          <a:p>
            <a:pPr algn="ctr"/>
            <a:r>
              <a:rPr lang="en-US" altLang="ja-JP" sz="1200" b="1" dirty="0" smtClean="0"/>
              <a:t>Prediction</a:t>
            </a:r>
            <a:endParaRPr lang="ja-JP" altLang="en-US" sz="1200" b="1" dirty="0"/>
          </a:p>
        </p:txBody>
      </p:sp>
      <p:sp>
        <p:nvSpPr>
          <p:cNvPr id="16" name="正方形/長方形 15"/>
          <p:cNvSpPr/>
          <p:nvPr/>
        </p:nvSpPr>
        <p:spPr>
          <a:xfrm>
            <a:off x="6125442" y="1772849"/>
            <a:ext cx="12155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200" b="1" dirty="0"/>
              <a:t>Data processing</a:t>
            </a:r>
            <a:endParaRPr lang="ja-JP" altLang="en-US" sz="1200" b="1" dirty="0"/>
          </a:p>
        </p:txBody>
      </p:sp>
      <p:sp>
        <p:nvSpPr>
          <p:cNvPr id="17" name="正方形/長方形 16"/>
          <p:cNvSpPr/>
          <p:nvPr/>
        </p:nvSpPr>
        <p:spPr>
          <a:xfrm>
            <a:off x="6125442" y="2387866"/>
            <a:ext cx="4908550" cy="211548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四角形吹き出し 17"/>
          <p:cNvSpPr/>
          <p:nvPr/>
        </p:nvSpPr>
        <p:spPr>
          <a:xfrm>
            <a:off x="9315513" y="649191"/>
            <a:ext cx="1398752" cy="343305"/>
          </a:xfrm>
          <a:prstGeom prst="wedgeRectCallout">
            <a:avLst>
              <a:gd name="adj1" fmla="val -42442"/>
              <a:gd name="adj2" fmla="val 7529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 smtClean="0"/>
              <a:t> Overall UI design</a:t>
            </a:r>
            <a:endParaRPr kumimoji="1" lang="ja-JP" altLang="en-US" sz="1050" dirty="0"/>
          </a:p>
        </p:txBody>
      </p:sp>
      <p:grpSp>
        <p:nvGrpSpPr>
          <p:cNvPr id="25" name="グループ化 24"/>
          <p:cNvGrpSpPr/>
          <p:nvPr/>
        </p:nvGrpSpPr>
        <p:grpSpPr>
          <a:xfrm>
            <a:off x="2764036" y="2807412"/>
            <a:ext cx="1524701" cy="224135"/>
            <a:chOff x="-616651" y="2731031"/>
            <a:chExt cx="1524701" cy="224135"/>
          </a:xfrm>
        </p:grpSpPr>
        <p:sp>
          <p:nvSpPr>
            <p:cNvPr id="23" name="正方形/長方形 22"/>
            <p:cNvSpPr/>
            <p:nvPr/>
          </p:nvSpPr>
          <p:spPr>
            <a:xfrm>
              <a:off x="-616651" y="2731031"/>
              <a:ext cx="1212850" cy="2241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/>
            <p:cNvSpPr/>
            <p:nvPr/>
          </p:nvSpPr>
          <p:spPr>
            <a:xfrm>
              <a:off x="596199" y="2731031"/>
              <a:ext cx="311851" cy="22413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100" dirty="0"/>
                <a:t>▼</a:t>
              </a:r>
              <a:endParaRPr kumimoji="1" lang="ja-JP" altLang="en-US" sz="1100" dirty="0"/>
            </a:p>
          </p:txBody>
        </p:sp>
      </p:grpSp>
      <p:sp>
        <p:nvSpPr>
          <p:cNvPr id="26" name="テキスト ボックス 25"/>
          <p:cNvSpPr txBox="1"/>
          <p:nvPr/>
        </p:nvSpPr>
        <p:spPr>
          <a:xfrm>
            <a:off x="2682124" y="2518470"/>
            <a:ext cx="5052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b="1" u="sng" dirty="0" smtClean="0"/>
              <a:t>XXXX</a:t>
            </a:r>
            <a:endParaRPr kumimoji="1" lang="ja-JP" altLang="en-US" sz="1100" b="1" u="sng" dirty="0"/>
          </a:p>
        </p:txBody>
      </p:sp>
      <p:grpSp>
        <p:nvGrpSpPr>
          <p:cNvPr id="27" name="グループ化 26"/>
          <p:cNvGrpSpPr/>
          <p:nvPr/>
        </p:nvGrpSpPr>
        <p:grpSpPr>
          <a:xfrm>
            <a:off x="2769010" y="3472942"/>
            <a:ext cx="1524701" cy="224135"/>
            <a:chOff x="-616651" y="2731031"/>
            <a:chExt cx="1524701" cy="224135"/>
          </a:xfrm>
        </p:grpSpPr>
        <p:sp>
          <p:nvSpPr>
            <p:cNvPr id="28" name="正方形/長方形 27"/>
            <p:cNvSpPr/>
            <p:nvPr/>
          </p:nvSpPr>
          <p:spPr>
            <a:xfrm>
              <a:off x="-616651" y="2731031"/>
              <a:ext cx="1212850" cy="2241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/>
            <p:cNvSpPr/>
            <p:nvPr/>
          </p:nvSpPr>
          <p:spPr>
            <a:xfrm>
              <a:off x="596199" y="2731031"/>
              <a:ext cx="311851" cy="22413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100" dirty="0"/>
                <a:t>▼</a:t>
              </a:r>
              <a:endParaRPr kumimoji="1" lang="ja-JP" altLang="en-US" sz="1100" dirty="0"/>
            </a:p>
          </p:txBody>
        </p:sp>
      </p:grpSp>
      <p:sp>
        <p:nvSpPr>
          <p:cNvPr id="30" name="テキスト ボックス 29"/>
          <p:cNvSpPr txBox="1"/>
          <p:nvPr/>
        </p:nvSpPr>
        <p:spPr>
          <a:xfrm>
            <a:off x="2687098" y="3184000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b="1" u="sng" dirty="0" smtClean="0"/>
              <a:t>YYY</a:t>
            </a:r>
            <a:r>
              <a:rPr lang="en-US" altLang="ja-JP" sz="1100" b="1" u="sng" dirty="0"/>
              <a:t>Y</a:t>
            </a:r>
            <a:endParaRPr kumimoji="1" lang="ja-JP" altLang="en-US" sz="1100" b="1" u="sng" dirty="0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2677150" y="3875468"/>
            <a:ext cx="5052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b="1" u="sng" dirty="0" smtClean="0"/>
              <a:t>ZZZZ</a:t>
            </a: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2682124" y="4540998"/>
            <a:ext cx="9973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b="1" u="sng" dirty="0" smtClean="0"/>
              <a:t>DATA RANGE</a:t>
            </a:r>
            <a:endParaRPr kumimoji="1" lang="ja-JP" altLang="en-US" sz="1100" b="1" u="sng" dirty="0"/>
          </a:p>
        </p:txBody>
      </p:sp>
      <p:sp>
        <p:nvSpPr>
          <p:cNvPr id="39" name="楕円 38"/>
          <p:cNvSpPr/>
          <p:nvPr/>
        </p:nvSpPr>
        <p:spPr>
          <a:xfrm>
            <a:off x="2759062" y="4847013"/>
            <a:ext cx="139399" cy="13939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2929783" y="4790657"/>
            <a:ext cx="6142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 smtClean="0"/>
              <a:t>0~1000</a:t>
            </a:r>
            <a:endParaRPr kumimoji="1" lang="ja-JP" altLang="en-US" sz="1100" dirty="0"/>
          </a:p>
        </p:txBody>
      </p:sp>
      <p:sp>
        <p:nvSpPr>
          <p:cNvPr id="41" name="楕円 40"/>
          <p:cNvSpPr/>
          <p:nvPr/>
        </p:nvSpPr>
        <p:spPr>
          <a:xfrm>
            <a:off x="2759062" y="5059586"/>
            <a:ext cx="139399" cy="13939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2929783" y="5003230"/>
            <a:ext cx="808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 smtClean="0"/>
              <a:t>1001~5000</a:t>
            </a:r>
            <a:endParaRPr kumimoji="1" lang="ja-JP" altLang="en-US" sz="1100" dirty="0"/>
          </a:p>
        </p:txBody>
      </p:sp>
      <p:sp>
        <p:nvSpPr>
          <p:cNvPr id="43" name="楕円 42"/>
          <p:cNvSpPr/>
          <p:nvPr/>
        </p:nvSpPr>
        <p:spPr>
          <a:xfrm>
            <a:off x="2759062" y="5297671"/>
            <a:ext cx="139399" cy="13939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/>
          <p:cNvSpPr txBox="1"/>
          <p:nvPr/>
        </p:nvSpPr>
        <p:spPr>
          <a:xfrm>
            <a:off x="2929783" y="5241315"/>
            <a:ext cx="8803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 smtClean="0"/>
              <a:t>5001~10000</a:t>
            </a:r>
            <a:endParaRPr kumimoji="1" lang="ja-JP" altLang="en-US" sz="1100" dirty="0"/>
          </a:p>
        </p:txBody>
      </p:sp>
      <p:sp>
        <p:nvSpPr>
          <p:cNvPr id="45" name="正方形/長方形 44"/>
          <p:cNvSpPr/>
          <p:nvPr/>
        </p:nvSpPr>
        <p:spPr>
          <a:xfrm>
            <a:off x="2383036" y="2418091"/>
            <a:ext cx="2490614" cy="33032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/>
          <p:cNvSpPr/>
          <p:nvPr/>
        </p:nvSpPr>
        <p:spPr>
          <a:xfrm>
            <a:off x="4763254" y="2417465"/>
            <a:ext cx="110535" cy="33038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/>
          <p:cNvSpPr/>
          <p:nvPr/>
        </p:nvSpPr>
        <p:spPr>
          <a:xfrm>
            <a:off x="4763115" y="3256632"/>
            <a:ext cx="110535" cy="184718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角丸四角形 47"/>
          <p:cNvSpPr/>
          <p:nvPr/>
        </p:nvSpPr>
        <p:spPr>
          <a:xfrm>
            <a:off x="5093550" y="3612997"/>
            <a:ext cx="805198" cy="236452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400" dirty="0" smtClean="0"/>
              <a:t>RUN</a:t>
            </a:r>
            <a:endParaRPr kumimoji="1" lang="ja-JP" altLang="en-US" sz="1400" dirty="0"/>
          </a:p>
        </p:txBody>
      </p:sp>
      <p:sp>
        <p:nvSpPr>
          <p:cNvPr id="49" name="四角形吹き出し 48"/>
          <p:cNvSpPr/>
          <p:nvPr/>
        </p:nvSpPr>
        <p:spPr>
          <a:xfrm>
            <a:off x="6565916" y="1289010"/>
            <a:ext cx="2535222" cy="343305"/>
          </a:xfrm>
          <a:prstGeom prst="wedgeRectCallout">
            <a:avLst>
              <a:gd name="adj1" fmla="val -42442"/>
              <a:gd name="adj2" fmla="val 7529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dirty="0" smtClean="0"/>
              <a:t>Switching </a:t>
            </a:r>
            <a:r>
              <a:rPr lang="en-US" altLang="ja-JP" sz="1050" dirty="0"/>
              <a:t>tabs according to function</a:t>
            </a:r>
            <a:endParaRPr kumimoji="1" lang="ja-JP" altLang="en-US" sz="1050" dirty="0"/>
          </a:p>
        </p:txBody>
      </p:sp>
      <p:sp>
        <p:nvSpPr>
          <p:cNvPr id="50" name="四角形吹き出し 49"/>
          <p:cNvSpPr/>
          <p:nvPr/>
        </p:nvSpPr>
        <p:spPr>
          <a:xfrm>
            <a:off x="3525069" y="2094365"/>
            <a:ext cx="1555234" cy="343305"/>
          </a:xfrm>
          <a:prstGeom prst="wedgeRectCallout">
            <a:avLst>
              <a:gd name="adj1" fmla="val -42442"/>
              <a:gd name="adj2" fmla="val 7529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dirty="0" smtClean="0"/>
              <a:t>Data Setting Panel</a:t>
            </a:r>
            <a:endParaRPr kumimoji="1" lang="ja-JP" altLang="en-US" sz="1050" dirty="0"/>
          </a:p>
        </p:txBody>
      </p:sp>
      <p:sp>
        <p:nvSpPr>
          <p:cNvPr id="51" name="四角形吹き出し 50"/>
          <p:cNvSpPr/>
          <p:nvPr/>
        </p:nvSpPr>
        <p:spPr>
          <a:xfrm>
            <a:off x="747912" y="2664855"/>
            <a:ext cx="1778245" cy="465522"/>
          </a:xfrm>
          <a:prstGeom prst="wedgeRectCallout">
            <a:avLst>
              <a:gd name="adj1" fmla="val 61167"/>
              <a:gd name="adj2" fmla="val 57969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dirty="0"/>
              <a:t>Create SQL according to selected items</a:t>
            </a:r>
            <a:endParaRPr kumimoji="1" lang="ja-JP" altLang="en-US" sz="1050" dirty="0"/>
          </a:p>
        </p:txBody>
      </p:sp>
      <p:sp>
        <p:nvSpPr>
          <p:cNvPr id="53" name="四角形吹き出し 52"/>
          <p:cNvSpPr/>
          <p:nvPr/>
        </p:nvSpPr>
        <p:spPr>
          <a:xfrm>
            <a:off x="4229713" y="3080592"/>
            <a:ext cx="1172232" cy="343305"/>
          </a:xfrm>
          <a:prstGeom prst="wedgeRectCallout">
            <a:avLst>
              <a:gd name="adj1" fmla="val -47822"/>
              <a:gd name="adj2" fmla="val -74724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dirty="0"/>
              <a:t>combo </a:t>
            </a:r>
            <a:r>
              <a:rPr lang="en-US" altLang="ja-JP" sz="1050" dirty="0" smtClean="0"/>
              <a:t>box etc.</a:t>
            </a:r>
            <a:endParaRPr kumimoji="1" lang="ja-JP" altLang="en-US" sz="1050" dirty="0"/>
          </a:p>
        </p:txBody>
      </p:sp>
      <p:sp>
        <p:nvSpPr>
          <p:cNvPr id="54" name="二等辺三角形 53"/>
          <p:cNvSpPr/>
          <p:nvPr/>
        </p:nvSpPr>
        <p:spPr>
          <a:xfrm rot="5400000">
            <a:off x="5627116" y="3656088"/>
            <a:ext cx="142551" cy="14977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9465868" y="2530341"/>
            <a:ext cx="1376362" cy="276999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Self-payment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9465868" y="2863501"/>
            <a:ext cx="1376362" cy="27699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 smtClean="0">
                <a:solidFill>
                  <a:schemeClr val="bg1"/>
                </a:solidFill>
              </a:rPr>
              <a:t>Insurance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57" name="フリーフォーム 56"/>
          <p:cNvSpPr/>
          <p:nvPr/>
        </p:nvSpPr>
        <p:spPr>
          <a:xfrm>
            <a:off x="7047461" y="3031547"/>
            <a:ext cx="3210999" cy="1067356"/>
          </a:xfrm>
          <a:custGeom>
            <a:avLst/>
            <a:gdLst>
              <a:gd name="connsiteX0" fmla="*/ 0 w 3962400"/>
              <a:gd name="connsiteY0" fmla="*/ 1267025 h 1271787"/>
              <a:gd name="connsiteX1" fmla="*/ 633413 w 3962400"/>
              <a:gd name="connsiteY1" fmla="*/ 200 h 1271787"/>
              <a:gd name="connsiteX2" fmla="*/ 1347788 w 3962400"/>
              <a:gd name="connsiteY2" fmla="*/ 1167012 h 1271787"/>
              <a:gd name="connsiteX3" fmla="*/ 3005138 w 3962400"/>
              <a:gd name="connsiteY3" fmla="*/ 933650 h 1271787"/>
              <a:gd name="connsiteX4" fmla="*/ 3962400 w 3962400"/>
              <a:gd name="connsiteY4" fmla="*/ 1271787 h 127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2400" h="1271787">
                <a:moveTo>
                  <a:pt x="0" y="1267025"/>
                </a:moveTo>
                <a:cubicBezTo>
                  <a:pt x="204391" y="641947"/>
                  <a:pt x="408782" y="16869"/>
                  <a:pt x="633413" y="200"/>
                </a:cubicBezTo>
                <a:cubicBezTo>
                  <a:pt x="858044" y="-16469"/>
                  <a:pt x="952501" y="1011437"/>
                  <a:pt x="1347788" y="1167012"/>
                </a:cubicBezTo>
                <a:cubicBezTo>
                  <a:pt x="1743075" y="1322587"/>
                  <a:pt x="2569369" y="916188"/>
                  <a:pt x="3005138" y="933650"/>
                </a:cubicBezTo>
                <a:cubicBezTo>
                  <a:pt x="3440907" y="951112"/>
                  <a:pt x="3701653" y="1111449"/>
                  <a:pt x="3962400" y="1271787"/>
                </a:cubicBezTo>
              </a:path>
            </a:pathLst>
          </a:custGeom>
          <a:solidFill>
            <a:srgbClr val="1F4E79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フリーフォーム 60"/>
          <p:cNvSpPr/>
          <p:nvPr/>
        </p:nvSpPr>
        <p:spPr>
          <a:xfrm>
            <a:off x="7053302" y="3191898"/>
            <a:ext cx="3481384" cy="907005"/>
          </a:xfrm>
          <a:custGeom>
            <a:avLst/>
            <a:gdLst>
              <a:gd name="connsiteX0" fmla="*/ 0 w 4124325"/>
              <a:gd name="connsiteY0" fmla="*/ 1542857 h 1542857"/>
              <a:gd name="connsiteX1" fmla="*/ 809625 w 4124325"/>
              <a:gd name="connsiteY1" fmla="*/ 14094 h 1542857"/>
              <a:gd name="connsiteX2" fmla="*/ 1352550 w 4124325"/>
              <a:gd name="connsiteY2" fmla="*/ 795144 h 1542857"/>
              <a:gd name="connsiteX3" fmla="*/ 2366963 w 4124325"/>
              <a:gd name="connsiteY3" fmla="*/ 1018982 h 1542857"/>
              <a:gd name="connsiteX4" fmla="*/ 3024188 w 4124325"/>
              <a:gd name="connsiteY4" fmla="*/ 1309494 h 1542857"/>
              <a:gd name="connsiteX5" fmla="*/ 4124325 w 4124325"/>
              <a:gd name="connsiteY5" fmla="*/ 1538094 h 154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24325" h="1542857">
                <a:moveTo>
                  <a:pt x="0" y="1542857"/>
                </a:moveTo>
                <a:cubicBezTo>
                  <a:pt x="292100" y="840785"/>
                  <a:pt x="584200" y="138713"/>
                  <a:pt x="809625" y="14094"/>
                </a:cubicBezTo>
                <a:cubicBezTo>
                  <a:pt x="1035050" y="-110525"/>
                  <a:pt x="1092994" y="627663"/>
                  <a:pt x="1352550" y="795144"/>
                </a:cubicBezTo>
                <a:cubicBezTo>
                  <a:pt x="1612106" y="962625"/>
                  <a:pt x="2088357" y="933257"/>
                  <a:pt x="2366963" y="1018982"/>
                </a:cubicBezTo>
                <a:cubicBezTo>
                  <a:pt x="2645569" y="1104707"/>
                  <a:pt x="2731294" y="1222975"/>
                  <a:pt x="3024188" y="1309494"/>
                </a:cubicBezTo>
                <a:cubicBezTo>
                  <a:pt x="3317082" y="1396013"/>
                  <a:pt x="3720703" y="1467053"/>
                  <a:pt x="4124325" y="1538094"/>
                </a:cubicBezTo>
              </a:path>
            </a:pathLst>
          </a:cu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3" name="図 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670" y="6114471"/>
            <a:ext cx="722989" cy="513341"/>
          </a:xfrm>
          <a:prstGeom prst="rect">
            <a:avLst/>
          </a:prstGeom>
        </p:spPr>
      </p:pic>
      <p:sp>
        <p:nvSpPr>
          <p:cNvPr id="65" name="正方形/長方形 64"/>
          <p:cNvSpPr/>
          <p:nvPr/>
        </p:nvSpPr>
        <p:spPr>
          <a:xfrm>
            <a:off x="1673839" y="6257381"/>
            <a:ext cx="3256020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400" b="1" dirty="0"/>
              <a:t>Analysis </a:t>
            </a:r>
            <a:r>
              <a:rPr lang="ja-JP" altLang="en-US" sz="1400" b="1" dirty="0" smtClean="0"/>
              <a:t>logic</a:t>
            </a:r>
            <a:endParaRPr lang="en-US" altLang="ja-JP" sz="1400" b="1" dirty="0" smtClean="0"/>
          </a:p>
          <a:p>
            <a:r>
              <a:rPr lang="en-US" altLang="ja-JP" sz="1100" b="1" dirty="0" smtClean="0"/>
              <a:t>(Prepared </a:t>
            </a:r>
            <a:r>
              <a:rPr lang="en-US" altLang="ja-JP" sz="1100" b="1" dirty="0"/>
              <a:t>by Kondo , or Please create dummy </a:t>
            </a:r>
            <a:r>
              <a:rPr lang="en-US" altLang="ja-JP" sz="1100" b="1" dirty="0" smtClean="0"/>
              <a:t>logic)</a:t>
            </a:r>
            <a:endParaRPr lang="en-US" altLang="ja-JP" sz="1100" b="1" dirty="0"/>
          </a:p>
        </p:txBody>
      </p:sp>
      <p:cxnSp>
        <p:nvCxnSpPr>
          <p:cNvPr id="67" name="カギ線コネクタ 66"/>
          <p:cNvCxnSpPr/>
          <p:nvPr/>
        </p:nvCxnSpPr>
        <p:spPr>
          <a:xfrm rot="10800000" flipV="1">
            <a:off x="1430471" y="3757626"/>
            <a:ext cx="1357845" cy="2327672"/>
          </a:xfrm>
          <a:prstGeom prst="bentConnector2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正方形/長方形 77"/>
          <p:cNvSpPr/>
          <p:nvPr/>
        </p:nvSpPr>
        <p:spPr>
          <a:xfrm>
            <a:off x="3679513" y="6081257"/>
            <a:ext cx="17103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400" b="1" dirty="0"/>
              <a:t>Draw analysis results</a:t>
            </a:r>
            <a:endParaRPr lang="ja-JP" altLang="en-US" sz="1400" b="1" dirty="0"/>
          </a:p>
        </p:txBody>
      </p:sp>
      <p:sp>
        <p:nvSpPr>
          <p:cNvPr id="79" name="正方形/長方形 78"/>
          <p:cNvSpPr/>
          <p:nvPr/>
        </p:nvSpPr>
        <p:spPr>
          <a:xfrm>
            <a:off x="411352" y="3678594"/>
            <a:ext cx="10583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400" b="1" dirty="0"/>
              <a:t>Deliver SQL</a:t>
            </a:r>
          </a:p>
        </p:txBody>
      </p:sp>
      <p:sp>
        <p:nvSpPr>
          <p:cNvPr id="80" name="テキスト ボックス 79"/>
          <p:cNvSpPr txBox="1"/>
          <p:nvPr/>
        </p:nvSpPr>
        <p:spPr>
          <a:xfrm>
            <a:off x="6964097" y="4057783"/>
            <a:ext cx="4271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 smtClean="0"/>
              <a:t>|  |  |  |  |  |  </a:t>
            </a:r>
            <a:r>
              <a:rPr lang="en-US" altLang="ja-JP" sz="800" dirty="0"/>
              <a:t>|  |  | </a:t>
            </a:r>
            <a:r>
              <a:rPr lang="en-US" altLang="ja-JP" sz="800" dirty="0" smtClean="0"/>
              <a:t> </a:t>
            </a:r>
            <a:r>
              <a:rPr lang="en-US" altLang="ja-JP" sz="800" dirty="0"/>
              <a:t>|  </a:t>
            </a:r>
            <a:r>
              <a:rPr lang="en-US" altLang="ja-JP" sz="800" dirty="0" smtClean="0"/>
              <a:t>|  </a:t>
            </a:r>
            <a:r>
              <a:rPr lang="en-US" altLang="ja-JP" sz="800" dirty="0"/>
              <a:t>|  |  |  |  |  |  |  |  |  |  |  |  |  |  |   |  |  |  |  |  |  |  |  |  |  |  |  |  |  |   |  </a:t>
            </a:r>
            <a:r>
              <a:rPr lang="en-US" altLang="ja-JP" sz="800" dirty="0" smtClean="0"/>
              <a:t>|</a:t>
            </a:r>
            <a:endParaRPr lang="ja-JP" altLang="en-US" sz="800" dirty="0"/>
          </a:p>
          <a:p>
            <a:r>
              <a:rPr lang="en-US" altLang="ja-JP" sz="800" dirty="0" smtClean="0"/>
              <a:t>   </a:t>
            </a:r>
            <a:endParaRPr lang="ja-JP" altLang="en-US" sz="800" dirty="0"/>
          </a:p>
          <a:p>
            <a:r>
              <a:rPr lang="en-US" altLang="ja-JP" sz="800" dirty="0" smtClean="0"/>
              <a:t> </a:t>
            </a:r>
            <a:endParaRPr kumimoji="1" lang="ja-JP" altLang="en-US" sz="800" dirty="0"/>
          </a:p>
        </p:txBody>
      </p:sp>
      <p:sp>
        <p:nvSpPr>
          <p:cNvPr id="81" name="テキスト ボックス 80"/>
          <p:cNvSpPr txBox="1"/>
          <p:nvPr/>
        </p:nvSpPr>
        <p:spPr>
          <a:xfrm>
            <a:off x="6876880" y="2748254"/>
            <a:ext cx="22474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800" dirty="0" smtClean="0"/>
              <a:t>-</a:t>
            </a:r>
          </a:p>
          <a:p>
            <a:pPr algn="r"/>
            <a:r>
              <a:rPr lang="en-US" altLang="ja-JP" sz="800" dirty="0" smtClean="0"/>
              <a:t>-</a:t>
            </a:r>
          </a:p>
          <a:p>
            <a:pPr algn="r"/>
            <a:r>
              <a:rPr kumimoji="1" lang="en-US" altLang="ja-JP" sz="800" dirty="0" smtClean="0"/>
              <a:t>-</a:t>
            </a:r>
          </a:p>
          <a:p>
            <a:pPr algn="r"/>
            <a:r>
              <a:rPr lang="en-US" altLang="ja-JP" sz="800" dirty="0" smtClean="0"/>
              <a:t>-</a:t>
            </a:r>
          </a:p>
          <a:p>
            <a:pPr algn="r"/>
            <a:r>
              <a:rPr kumimoji="1" lang="en-US" altLang="ja-JP" sz="800" dirty="0" smtClean="0"/>
              <a:t>-</a:t>
            </a:r>
          </a:p>
          <a:p>
            <a:pPr algn="r"/>
            <a:r>
              <a:rPr lang="en-US" altLang="ja-JP" sz="800" dirty="0" smtClean="0"/>
              <a:t>-</a:t>
            </a:r>
          </a:p>
          <a:p>
            <a:pPr algn="r"/>
            <a:r>
              <a:rPr kumimoji="1" lang="en-US" altLang="ja-JP" sz="800" dirty="0" smtClean="0"/>
              <a:t>-</a:t>
            </a:r>
          </a:p>
          <a:p>
            <a:pPr algn="r"/>
            <a:r>
              <a:rPr lang="en-US" altLang="ja-JP" sz="800" dirty="0" smtClean="0"/>
              <a:t>-</a:t>
            </a:r>
          </a:p>
          <a:p>
            <a:pPr algn="r"/>
            <a:r>
              <a:rPr kumimoji="1" lang="en-US" altLang="ja-JP" sz="800" dirty="0" smtClean="0"/>
              <a:t>-</a:t>
            </a:r>
          </a:p>
          <a:p>
            <a:pPr algn="r"/>
            <a:r>
              <a:rPr lang="en-US" altLang="ja-JP" sz="800" dirty="0" smtClean="0"/>
              <a:t>-</a:t>
            </a:r>
          </a:p>
          <a:p>
            <a:pPr algn="r"/>
            <a:r>
              <a:rPr kumimoji="1" lang="en-US" altLang="ja-JP" sz="800" dirty="0"/>
              <a:t>-</a:t>
            </a:r>
            <a:endParaRPr kumimoji="1" lang="ja-JP" altLang="en-US" sz="800" dirty="0"/>
          </a:p>
        </p:txBody>
      </p:sp>
      <p:sp>
        <p:nvSpPr>
          <p:cNvPr id="83" name="テキスト ボックス 82"/>
          <p:cNvSpPr txBox="1"/>
          <p:nvPr/>
        </p:nvSpPr>
        <p:spPr>
          <a:xfrm>
            <a:off x="6346378" y="2738880"/>
            <a:ext cx="6543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1000" dirty="0" smtClean="0"/>
              <a:t>\100,000</a:t>
            </a:r>
          </a:p>
        </p:txBody>
      </p:sp>
      <p:sp>
        <p:nvSpPr>
          <p:cNvPr id="84" name="テキスト ボックス 83"/>
          <p:cNvSpPr txBox="1"/>
          <p:nvPr/>
        </p:nvSpPr>
        <p:spPr>
          <a:xfrm>
            <a:off x="6684365" y="3957957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00" dirty="0"/>
              <a:t>\</a:t>
            </a:r>
            <a:r>
              <a:rPr kumimoji="1" lang="en-US" altLang="ja-JP" sz="1000" dirty="0" smtClean="0"/>
              <a:t>0</a:t>
            </a:r>
          </a:p>
        </p:txBody>
      </p:sp>
      <p:sp>
        <p:nvSpPr>
          <p:cNvPr id="85" name="テキスト ボックス 84"/>
          <p:cNvSpPr txBox="1"/>
          <p:nvPr/>
        </p:nvSpPr>
        <p:spPr>
          <a:xfrm>
            <a:off x="6400204" y="3366393"/>
            <a:ext cx="6078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00" dirty="0" smtClean="0"/>
              <a:t>\5</a:t>
            </a:r>
            <a:r>
              <a:rPr kumimoji="1" lang="en-US" altLang="ja-JP" sz="1000" dirty="0" smtClean="0"/>
              <a:t>0,000</a:t>
            </a:r>
          </a:p>
        </p:txBody>
      </p:sp>
      <p:sp>
        <p:nvSpPr>
          <p:cNvPr id="89" name="正方形/長方形 88"/>
          <p:cNvSpPr/>
          <p:nvPr/>
        </p:nvSpPr>
        <p:spPr>
          <a:xfrm>
            <a:off x="7659377" y="1782679"/>
            <a:ext cx="13869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200" b="1" dirty="0"/>
              <a:t>Hospitalization risk</a:t>
            </a:r>
            <a:endParaRPr lang="ja-JP" altLang="en-US" sz="1200" b="1" dirty="0"/>
          </a:p>
        </p:txBody>
      </p:sp>
      <p:pic>
        <p:nvPicPr>
          <p:cNvPr id="1026" name="Picture 2" descr="http://sqlmag.com/site-files/sqlmag.com/files/uploads/2013/11/Microsoft-SQL-Server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16" y="6169250"/>
            <a:ext cx="558325" cy="458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1" name="直線矢印コネクタ 90"/>
          <p:cNvCxnSpPr/>
          <p:nvPr/>
        </p:nvCxnSpPr>
        <p:spPr>
          <a:xfrm>
            <a:off x="747912" y="6326448"/>
            <a:ext cx="361951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/>
          <p:cNvCxnSpPr/>
          <p:nvPr/>
        </p:nvCxnSpPr>
        <p:spPr>
          <a:xfrm flipH="1">
            <a:off x="754799" y="6457950"/>
            <a:ext cx="348176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図 94" descr="ea60_010_030_dwin.w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4049" y="1103290"/>
            <a:ext cx="1195200" cy="342857"/>
          </a:xfrm>
          <a:prstGeom prst="rect">
            <a:avLst/>
          </a:prstGeom>
        </p:spPr>
      </p:pic>
      <p:sp>
        <p:nvSpPr>
          <p:cNvPr id="96" name="正方形/長方形 95"/>
          <p:cNvSpPr/>
          <p:nvPr/>
        </p:nvSpPr>
        <p:spPr>
          <a:xfrm>
            <a:off x="9453589" y="1687750"/>
            <a:ext cx="10182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JP" sz="1200" b="1" dirty="0" smtClean="0"/>
              <a:t>RE-insurance</a:t>
            </a:r>
          </a:p>
          <a:p>
            <a:pPr algn="ctr"/>
            <a:r>
              <a:rPr lang="en-US" altLang="ja-JP" sz="1200" b="1" dirty="0" smtClean="0"/>
              <a:t>analysis</a:t>
            </a:r>
            <a:endParaRPr lang="ja-JP" altLang="en-US" sz="1200" b="1" dirty="0"/>
          </a:p>
        </p:txBody>
      </p:sp>
      <p:sp>
        <p:nvSpPr>
          <p:cNvPr id="97" name="正方形/長方形 96"/>
          <p:cNvSpPr/>
          <p:nvPr/>
        </p:nvSpPr>
        <p:spPr>
          <a:xfrm>
            <a:off x="6125442" y="4647755"/>
            <a:ext cx="4908550" cy="91232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Message area</a:t>
            </a:r>
          </a:p>
          <a:p>
            <a:r>
              <a:rPr lang="en-US" altLang="ja-JP" sz="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----------------------------------------------------------------------------------------------------------------------------------------------</a:t>
            </a:r>
          </a:p>
          <a:p>
            <a:r>
              <a:rPr lang="en-US" altLang="ja-JP" sz="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 </a:t>
            </a:r>
            <a:r>
              <a:rPr lang="en-US" altLang="ja-JP" sz="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version 3.4.2 (Short Summer) has been released on Thursday 2017-09-28.</a:t>
            </a:r>
          </a:p>
          <a:p>
            <a:r>
              <a:rPr lang="en-US" altLang="ja-JP" sz="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altLang="ja-JP" sz="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 Journal Volume 9/1 is available</a:t>
            </a:r>
            <a:r>
              <a:rPr lang="en-US" altLang="ja-JP" sz="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ja-JP" sz="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ja-JP" sz="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 version 3.3.3 (Another Canoe) has been released on Monday 2017-03-06.</a:t>
            </a:r>
          </a:p>
          <a:p>
            <a:endParaRPr lang="en-US" altLang="ja-JP" sz="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ja-JP" sz="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R Journal Volume 8/2 is available</a:t>
            </a:r>
            <a:r>
              <a:rPr lang="en-US" altLang="ja-JP" sz="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ja-JP" sz="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ja-JP" sz="5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useR</a:t>
            </a:r>
            <a:r>
              <a:rPr lang="en-US" altLang="ja-JP" sz="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 2017 (July 4 - 7 in Brussels) has opened registration and more at http://user2017.brussels</a:t>
            </a:r>
            <a:r>
              <a:rPr lang="en-US" altLang="ja-JP" sz="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endParaRPr lang="en-US" altLang="ja-JP" sz="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ja-JP" sz="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Tomas </a:t>
            </a:r>
            <a:r>
              <a:rPr lang="en-US" altLang="ja-JP" sz="5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Kalibera</a:t>
            </a:r>
            <a:r>
              <a:rPr lang="en-US" altLang="ja-JP" sz="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has joined the R core team</a:t>
            </a:r>
            <a:r>
              <a:rPr lang="en-US" altLang="ja-JP" sz="5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kumimoji="1" lang="ja-JP" altLang="en-US" sz="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1" name="カギ線コネクタ 70"/>
          <p:cNvCxnSpPr/>
          <p:nvPr/>
        </p:nvCxnSpPr>
        <p:spPr>
          <a:xfrm flipV="1">
            <a:off x="2924184" y="4344749"/>
            <a:ext cx="3168529" cy="2026392"/>
          </a:xfrm>
          <a:prstGeom prst="bentConnector3">
            <a:avLst>
              <a:gd name="adj1" fmla="val 77957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四角形吹き出し 51"/>
          <p:cNvSpPr/>
          <p:nvPr/>
        </p:nvSpPr>
        <p:spPr>
          <a:xfrm>
            <a:off x="10014889" y="4666086"/>
            <a:ext cx="2038205" cy="1660362"/>
          </a:xfrm>
          <a:prstGeom prst="wedgeRectCallout">
            <a:avLst>
              <a:gd name="adj1" fmla="val -44506"/>
              <a:gd name="adj2" fmla="val -63541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050" dirty="0"/>
              <a:t>The plot is different depending </a:t>
            </a:r>
            <a:r>
              <a:rPr lang="en-US" altLang="ja-JP" sz="1050" dirty="0" smtClean="0"/>
              <a:t/>
            </a:r>
            <a:br>
              <a:rPr lang="en-US" altLang="ja-JP" sz="1050" dirty="0" smtClean="0"/>
            </a:br>
            <a:r>
              <a:rPr lang="en-US" altLang="ja-JP" sz="1050" dirty="0" smtClean="0"/>
              <a:t>on </a:t>
            </a:r>
            <a:r>
              <a:rPr lang="en-US" altLang="ja-JP" sz="1050" dirty="0"/>
              <a:t>the purpose</a:t>
            </a:r>
          </a:p>
          <a:p>
            <a:endParaRPr lang="en-US" altLang="ja-JP" sz="1050" dirty="0" smtClean="0"/>
          </a:p>
          <a:p>
            <a:r>
              <a:rPr lang="en-US" altLang="ja-JP" sz="1050" b="1" dirty="0" smtClean="0"/>
              <a:t>--bar </a:t>
            </a:r>
            <a:r>
              <a:rPr lang="en-US" altLang="ja-JP" sz="1050" b="1" dirty="0"/>
              <a:t>graph</a:t>
            </a:r>
          </a:p>
          <a:p>
            <a:r>
              <a:rPr lang="en-US" altLang="ja-JP" sz="1050" b="1" dirty="0" smtClean="0"/>
              <a:t>--Line </a:t>
            </a:r>
            <a:r>
              <a:rPr lang="en-US" altLang="ja-JP" sz="1050" b="1" dirty="0"/>
              <a:t>graph</a:t>
            </a:r>
          </a:p>
          <a:p>
            <a:r>
              <a:rPr lang="en-US" altLang="ja-JP" sz="1050" b="1" dirty="0" smtClean="0"/>
              <a:t>--pie </a:t>
            </a:r>
            <a:r>
              <a:rPr lang="en-US" altLang="ja-JP" sz="1050" b="1" dirty="0"/>
              <a:t>chart</a:t>
            </a:r>
          </a:p>
          <a:p>
            <a:r>
              <a:rPr lang="en-US" altLang="ja-JP" sz="1050" b="1" dirty="0" smtClean="0"/>
              <a:t>--histogram</a:t>
            </a:r>
            <a:endParaRPr lang="en-US" altLang="ja-JP" sz="1050" b="1" dirty="0"/>
          </a:p>
          <a:p>
            <a:r>
              <a:rPr lang="en-US" altLang="ja-JP" sz="1050" b="1" dirty="0" smtClean="0"/>
              <a:t>--Scatter plot</a:t>
            </a:r>
          </a:p>
          <a:p>
            <a:r>
              <a:rPr lang="en-US" altLang="ja-JP" sz="1050" b="1" dirty="0" smtClean="0"/>
              <a:t>etc…</a:t>
            </a:r>
            <a:endParaRPr kumimoji="1" lang="ja-JP" altLang="en-US" sz="1050" b="1" dirty="0"/>
          </a:p>
        </p:txBody>
      </p:sp>
      <p:sp>
        <p:nvSpPr>
          <p:cNvPr id="14" name="角丸四角形 13"/>
          <p:cNvSpPr/>
          <p:nvPr/>
        </p:nvSpPr>
        <p:spPr>
          <a:xfrm>
            <a:off x="2736411" y="4188545"/>
            <a:ext cx="1697346" cy="915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/>
          <p:cNvSpPr/>
          <p:nvPr/>
        </p:nvSpPr>
        <p:spPr>
          <a:xfrm>
            <a:off x="3168566" y="4177200"/>
            <a:ext cx="96426" cy="96426"/>
          </a:xfrm>
          <a:prstGeom prst="ellipse">
            <a:avLst/>
          </a:prstGeom>
          <a:solidFill>
            <a:schemeClr val="tx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四角形吹き出し 71"/>
          <p:cNvSpPr/>
          <p:nvPr/>
        </p:nvSpPr>
        <p:spPr>
          <a:xfrm>
            <a:off x="10276721" y="3489288"/>
            <a:ext cx="1398752" cy="343305"/>
          </a:xfrm>
          <a:prstGeom prst="wedgeRectCallout">
            <a:avLst>
              <a:gd name="adj1" fmla="val -42442"/>
              <a:gd name="adj2" fmla="val 7529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 smtClean="0"/>
              <a:t> </a:t>
            </a:r>
            <a:r>
              <a:rPr lang="en-US" altLang="ja-JP" sz="1050" dirty="0" smtClean="0"/>
              <a:t>I</a:t>
            </a:r>
            <a:r>
              <a:rPr kumimoji="1" lang="en-US" altLang="ja-JP" sz="1050" dirty="0" smtClean="0"/>
              <a:t>nteractive!</a:t>
            </a:r>
          </a:p>
          <a:p>
            <a:pPr algn="ctr"/>
            <a:r>
              <a:rPr lang="en-US" altLang="ja-JP" sz="1050" dirty="0" smtClean="0"/>
              <a:t>(</a:t>
            </a:r>
            <a:r>
              <a:rPr lang="en-US" altLang="ja-JP" sz="1050" dirty="0" err="1" smtClean="0"/>
              <a:t>Plotly</a:t>
            </a:r>
            <a:r>
              <a:rPr lang="en-US" altLang="ja-JP" sz="1050" dirty="0" smtClean="0"/>
              <a:t>)</a:t>
            </a:r>
            <a:endParaRPr kumimoji="1" lang="ja-JP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97483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 smtClean="0"/>
              <a:t>5.What </a:t>
            </a:r>
            <a:r>
              <a:rPr lang="en-US" altLang="ja-JP" dirty="0"/>
              <a:t>you want us to do first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1747-AB2E-4E1F-9895-45BAB76B0667}" type="slidenum">
              <a:rPr lang="ja-JP" altLang="en-US" smtClean="0"/>
              <a:pPr/>
              <a:t>5</a:t>
            </a:fld>
            <a:endParaRPr lang="ja-JP" altLang="en-US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94" y="1320800"/>
            <a:ext cx="6974156" cy="4012528"/>
          </a:xfrm>
          <a:prstGeom prst="rect">
            <a:avLst/>
          </a:prstGeom>
        </p:spPr>
      </p:pic>
      <p:sp>
        <p:nvSpPr>
          <p:cNvPr id="5" name="正方形/長方形 4"/>
          <p:cNvSpPr/>
          <p:nvPr/>
        </p:nvSpPr>
        <p:spPr>
          <a:xfrm>
            <a:off x="868094" y="876985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b="1" dirty="0"/>
              <a:t>U</a:t>
            </a:r>
            <a:r>
              <a:rPr lang="ja-JP" altLang="en-US" sz="2000" b="1" dirty="0" smtClean="0"/>
              <a:t>nderstanding </a:t>
            </a:r>
            <a:r>
              <a:rPr lang="ja-JP" altLang="en-US" sz="2000" b="1" dirty="0"/>
              <a:t>of simulator environment prototyped by Hitachi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868094" y="5563285"/>
            <a:ext cx="97636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ja-JP" altLang="en-US" dirty="0"/>
              <a:t>I will pass you the database schema information. Please build it</a:t>
            </a:r>
            <a:r>
              <a:rPr lang="ja-JP" altLang="en-US" dirty="0" smtClean="0"/>
              <a:t>.</a:t>
            </a:r>
            <a:endParaRPr lang="en-US" altLang="ja-JP" dirty="0" smtClean="0"/>
          </a:p>
          <a:p>
            <a:pPr marL="342900" indent="-342900">
              <a:buFont typeface="+mj-lt"/>
              <a:buAutoNum type="arabicPeriod"/>
            </a:pPr>
            <a:r>
              <a:rPr lang="en-US" altLang="ja-JP" dirty="0"/>
              <a:t>Please generate dummy data and import </a:t>
            </a:r>
            <a:r>
              <a:rPr lang="en-US" altLang="ja-JP" dirty="0" smtClean="0"/>
              <a:t>it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dirty="0"/>
              <a:t>I will pass the above prototype source code. Please start up and understand the contents</a:t>
            </a:r>
            <a:endParaRPr lang="en-US" altLang="ja-JP" dirty="0" smtClean="0"/>
          </a:p>
          <a:p>
            <a:pPr marL="342900" indent="-342900">
              <a:buFont typeface="+mj-lt"/>
              <a:buAutoNum type="arabicPeriod"/>
            </a:pP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75988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6</a:t>
            </a:r>
            <a:r>
              <a:rPr kumimoji="1" lang="en-US" altLang="ja-JP" dirty="0" smtClean="0"/>
              <a:t>. Deliverables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1747-AB2E-4E1F-9895-45BAB76B0667}" type="slidenum">
              <a:rPr lang="ja-JP" altLang="en-US" smtClean="0"/>
              <a:pPr/>
              <a:t>6</a:t>
            </a:fld>
            <a:endParaRPr lang="ja-JP" altLang="en-US"/>
          </a:p>
        </p:txBody>
      </p:sp>
      <p:graphicFrame>
        <p:nvGraphicFramePr>
          <p:cNvPr id="4" name="表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072053"/>
              </p:ext>
            </p:extLst>
          </p:nvPr>
        </p:nvGraphicFramePr>
        <p:xfrm>
          <a:off x="423790" y="1002240"/>
          <a:ext cx="11393559" cy="344275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83803">
                  <a:extLst>
                    <a:ext uri="{9D8B030D-6E8A-4147-A177-3AD203B41FA5}">
                      <a16:colId xmlns:a16="http://schemas.microsoft.com/office/drawing/2014/main" val="2209263557"/>
                    </a:ext>
                  </a:extLst>
                </a:gridCol>
                <a:gridCol w="3812136">
                  <a:extLst>
                    <a:ext uri="{9D8B030D-6E8A-4147-A177-3AD203B41FA5}">
                      <a16:colId xmlns:a16="http://schemas.microsoft.com/office/drawing/2014/main" val="702105156"/>
                    </a:ext>
                  </a:extLst>
                </a:gridCol>
                <a:gridCol w="2130021">
                  <a:extLst>
                    <a:ext uri="{9D8B030D-6E8A-4147-A177-3AD203B41FA5}">
                      <a16:colId xmlns:a16="http://schemas.microsoft.com/office/drawing/2014/main" val="2262664438"/>
                    </a:ext>
                  </a:extLst>
                </a:gridCol>
                <a:gridCol w="4767599">
                  <a:extLst>
                    <a:ext uri="{9D8B030D-6E8A-4147-A177-3AD203B41FA5}">
                      <a16:colId xmlns:a16="http://schemas.microsoft.com/office/drawing/2014/main" val="1864017769"/>
                    </a:ext>
                  </a:extLst>
                </a:gridCol>
              </a:tblGrid>
              <a:tr h="641126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#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Item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Format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memo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978718"/>
                  </a:ext>
                </a:extLst>
              </a:tr>
              <a:tr h="641126">
                <a:tc>
                  <a:txBody>
                    <a:bodyPr/>
                    <a:lstStyle/>
                    <a:p>
                      <a:r>
                        <a:rPr kumimoji="1" lang="en-US" altLang="ja-JP" sz="1600" dirty="0" smtClean="0"/>
                        <a:t>1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smtClean="0"/>
                        <a:t>Program</a:t>
                      </a:r>
                      <a:r>
                        <a:rPr kumimoji="1" lang="en-US" altLang="ja-JP" sz="1600" baseline="0" dirty="0" smtClean="0"/>
                        <a:t> source code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smtClean="0"/>
                        <a:t>.R</a:t>
                      </a:r>
                      <a:r>
                        <a:rPr kumimoji="1" lang="en-US" altLang="ja-JP" sz="1600" baseline="0" dirty="0" smtClean="0"/>
                        <a:t> etc..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smtClean="0"/>
                        <a:t>Including R-code, HTML, CSS, JS, SQL, …etc.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426982"/>
                  </a:ext>
                </a:extLst>
              </a:tr>
              <a:tr h="895820">
                <a:tc>
                  <a:txBody>
                    <a:bodyPr/>
                    <a:lstStyle/>
                    <a:p>
                      <a:r>
                        <a:rPr kumimoji="1" lang="en-US" altLang="ja-JP" sz="1600" dirty="0" smtClean="0"/>
                        <a:t>2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smtClean="0"/>
                        <a:t>Database configuration file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smtClean="0"/>
                        <a:t>.</a:t>
                      </a:r>
                      <a:r>
                        <a:rPr kumimoji="1" lang="en-US" altLang="ja-JP" sz="1600" dirty="0" err="1" smtClean="0"/>
                        <a:t>mdf</a:t>
                      </a:r>
                      <a:r>
                        <a:rPr kumimoji="1" lang="en-US" altLang="ja-JP" sz="1600" dirty="0" smtClean="0"/>
                        <a:t> etc..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smtClean="0"/>
                        <a:t>SQL server configuration file(.</a:t>
                      </a:r>
                      <a:r>
                        <a:rPr kumimoji="1" lang="en-US" altLang="ja-JP" sz="1600" dirty="0" err="1" smtClean="0"/>
                        <a:t>mdf</a:t>
                      </a:r>
                      <a:r>
                        <a:rPr kumimoji="1" lang="en-US" altLang="ja-JP" sz="1600" dirty="0" smtClean="0"/>
                        <a:t>)</a:t>
                      </a:r>
                    </a:p>
                    <a:p>
                      <a:r>
                        <a:rPr kumimoji="1" lang="en-US" altLang="ja-JP" sz="1600" dirty="0" smtClean="0"/>
                        <a:t>Data Export file</a:t>
                      </a:r>
                      <a:r>
                        <a:rPr kumimoji="1" lang="en-US" altLang="ja-JP" sz="1600" baseline="0" dirty="0" smtClean="0"/>
                        <a:t> (.csv)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24727"/>
                  </a:ext>
                </a:extLst>
              </a:tr>
              <a:tr h="1264687">
                <a:tc>
                  <a:txBody>
                    <a:bodyPr/>
                    <a:lstStyle/>
                    <a:p>
                      <a:r>
                        <a:rPr kumimoji="1" lang="en-US" altLang="ja-JP" sz="1600" dirty="0" smtClean="0"/>
                        <a:t>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u="sng" dirty="0" smtClean="0"/>
                        <a:t>Simple</a:t>
                      </a:r>
                      <a:r>
                        <a:rPr kumimoji="1" lang="en-US" altLang="ja-JP" sz="1600" dirty="0" smtClean="0"/>
                        <a:t> specification Document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smtClean="0"/>
                        <a:t>Microsoft</a:t>
                      </a:r>
                      <a:r>
                        <a:rPr kumimoji="1" lang="en-US" altLang="ja-JP" sz="1600" baseline="0" dirty="0" smtClean="0"/>
                        <a:t> Office</a:t>
                      </a:r>
                      <a:endParaRPr kumimoji="1" lang="en-US" altLang="ja-JP" sz="1600" dirty="0" smtClean="0"/>
                    </a:p>
                    <a:p>
                      <a:r>
                        <a:rPr kumimoji="1" lang="en-US" altLang="ja-JP" sz="1600" dirty="0" smtClean="0"/>
                        <a:t>(.</a:t>
                      </a:r>
                      <a:r>
                        <a:rPr kumimoji="1" lang="en-US" altLang="ja-JP" sz="1600" dirty="0" err="1" smtClean="0"/>
                        <a:t>xlsx</a:t>
                      </a:r>
                      <a:r>
                        <a:rPr kumimoji="1" lang="en-US" altLang="ja-JP" sz="1600" baseline="0" dirty="0" smtClean="0"/>
                        <a:t>/.</a:t>
                      </a:r>
                      <a:r>
                        <a:rPr kumimoji="1" lang="en-US" altLang="ja-JP" sz="1600" baseline="0" dirty="0" err="1" smtClean="0"/>
                        <a:t>docx</a:t>
                      </a:r>
                      <a:r>
                        <a:rPr kumimoji="1" lang="en-US" altLang="ja-JP" sz="1600" baseline="0" dirty="0" smtClean="0"/>
                        <a:t>/.</a:t>
                      </a:r>
                      <a:r>
                        <a:rPr kumimoji="1" lang="en-US" altLang="ja-JP" sz="1600" baseline="0" dirty="0" err="1" smtClean="0"/>
                        <a:t>pptx</a:t>
                      </a:r>
                      <a:r>
                        <a:rPr kumimoji="1" lang="en-US" altLang="ja-JP" sz="1600" baseline="0" dirty="0" smtClean="0"/>
                        <a:t>)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smtClean="0"/>
                        <a:t>Regarding R source code, please summarize about processing outline, processing order, meaning of notes, 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375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2933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Segoe UI Light"/>
        <a:ea typeface="Meiryo UI"/>
        <a:cs typeface=""/>
      </a:majorFont>
      <a:minorFont>
        <a:latin typeface="Segoe UI Light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15833</TotalTime>
  <Words>613</Words>
  <Application>Microsoft Office PowerPoint</Application>
  <PresentationFormat>ワイド画面</PresentationFormat>
  <Paragraphs>172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Meiryo UI</vt:lpstr>
      <vt:lpstr>ＭＳ Ｐゴシック</vt:lpstr>
      <vt:lpstr>Arial</vt:lpstr>
      <vt:lpstr>Calibri</vt:lpstr>
      <vt:lpstr>Segoe UI Light</vt:lpstr>
      <vt:lpstr>Office テーマ</vt:lpstr>
      <vt:lpstr>PowerPoint プレゼンテーション</vt:lpstr>
      <vt:lpstr>1. About File Sharing Method (You are staying in Japan/October)</vt:lpstr>
      <vt:lpstr>2. About Work estimate</vt:lpstr>
      <vt:lpstr>3. Working process</vt:lpstr>
      <vt:lpstr>4. UI sample and request</vt:lpstr>
      <vt:lpstr>5.What you want us to do first</vt:lpstr>
      <vt:lpstr>6. Deliverables</vt:lpstr>
    </vt:vector>
  </TitlesOfParts>
  <Company>（Iサ本）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鎌田裕司 / KAMATA，YUUJI</dc:creator>
  <cp:lastModifiedBy>鎌田裕司 / KAMATA，YUUJI</cp:lastModifiedBy>
  <cp:revision>561</cp:revision>
  <dcterms:created xsi:type="dcterms:W3CDTF">2016-10-26T06:05:18Z</dcterms:created>
  <dcterms:modified xsi:type="dcterms:W3CDTF">2017-10-03T08:39:08Z</dcterms:modified>
</cp:coreProperties>
</file>